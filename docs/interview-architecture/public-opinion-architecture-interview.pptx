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5ecb610e114f33" /><Relationship Type="http://schemas.openxmlformats.org/officeDocument/2006/relationships/extended-properties" Target="/docProps/app.xml" Id="Rb471b9ec24cb42e3" /><Relationship Type="http://schemas.openxmlformats.org/officeDocument/2006/relationships/officeDocument" Target="/ppt/presentation.xml" Id="R732da2cd69db4f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6fc5a1ee9a422a"/>
  </p:sldMasterIdLst>
  <p:notesMasterIdLst>
    <p:notesMasterId xmlns:r="http://schemas.openxmlformats.org/officeDocument/2006/relationships" r:id="Rf6f8139616764955"/>
  </p:notesMasterIdLst>
  <p:sldIdLst>
    <p:sldId xmlns:r="http://schemas.openxmlformats.org/officeDocument/2006/relationships" id="256" r:id="Rea1cbe8433844913"/>
    <p:sldId xmlns:r="http://schemas.openxmlformats.org/officeDocument/2006/relationships" id="257" r:id="R37a9da61c1714689"/>
    <p:sldId xmlns:r="http://schemas.openxmlformats.org/officeDocument/2006/relationships" id="258" r:id="Ra4e646b2a7c04c34"/>
    <p:sldId xmlns:r="http://schemas.openxmlformats.org/officeDocument/2006/relationships" id="259" r:id="R88044f427f1f48e6"/>
    <p:sldId xmlns:r="http://schemas.openxmlformats.org/officeDocument/2006/relationships" id="260" r:id="R723b7b3222194e85"/>
    <p:sldId xmlns:r="http://schemas.openxmlformats.org/officeDocument/2006/relationships" id="261" r:id="Rea75e46c752b4b34"/>
    <p:sldId xmlns:r="http://schemas.openxmlformats.org/officeDocument/2006/relationships" id="262" r:id="R61b7af31763b4b69"/>
    <p:sldId xmlns:r="http://schemas.openxmlformats.org/officeDocument/2006/relationships" id="263" r:id="R89a895ba30b94e16"/>
    <p:sldId xmlns:r="http://schemas.openxmlformats.org/officeDocument/2006/relationships" id="264" r:id="R2a03e673a0d64a25"/>
    <p:sldId xmlns:r="http://schemas.openxmlformats.org/officeDocument/2006/relationships" id="265" r:id="Re07ade8887624dbc"/>
    <p:sldId xmlns:r="http://schemas.openxmlformats.org/officeDocument/2006/relationships" id="266" r:id="Rf3a21e5388694a15"/>
    <p:sldId xmlns:r="http://schemas.openxmlformats.org/officeDocument/2006/relationships" id="267" r:id="R22e0b66e21cc409a"/>
    <p:sldId xmlns:r="http://schemas.openxmlformats.org/officeDocument/2006/relationships" id="268" r:id="R864d051456f7435e"/>
    <p:sldId xmlns:r="http://schemas.openxmlformats.org/officeDocument/2006/relationships" id="269" r:id="Rf6ef927ec8e84291"/>
    <p:sldId xmlns:r="http://schemas.openxmlformats.org/officeDocument/2006/relationships" id="270" r:id="R266a274c7c394ac6"/>
    <p:sldId xmlns:r="http://schemas.openxmlformats.org/officeDocument/2006/relationships" id="271" r:id="R76f2e8e5590f4e29"/>
    <p:sldId xmlns:r="http://schemas.openxmlformats.org/officeDocument/2006/relationships" id="272" r:id="R7725d7eea54d481a"/>
    <p:sldId xmlns:r="http://schemas.openxmlformats.org/officeDocument/2006/relationships" id="273" r:id="R5a6d1927a03d4c3f"/>
    <p:sldId xmlns:r="http://schemas.openxmlformats.org/officeDocument/2006/relationships" id="274" r:id="R21889c379bf8491f"/>
    <p:sldId xmlns:r="http://schemas.openxmlformats.org/officeDocument/2006/relationships" id="275" r:id="R9c3a52f3bbf2406e"/>
    <p:sldId xmlns:r="http://schemas.openxmlformats.org/officeDocument/2006/relationships" id="276" r:id="R2dafd019f32a43a7"/>
    <p:sldId xmlns:r="http://schemas.openxmlformats.org/officeDocument/2006/relationships" id="277" r:id="R4d26c5fe89f14268"/>
    <p:sldId xmlns:r="http://schemas.openxmlformats.org/officeDocument/2006/relationships" id="278" r:id="Re693a13db74d4de7"/>
    <p:sldId xmlns:r="http://schemas.openxmlformats.org/officeDocument/2006/relationships" id="279" r:id="R242f89dd1761440e"/>
    <p:sldId xmlns:r="http://schemas.openxmlformats.org/officeDocument/2006/relationships" id="280" r:id="R00c7aea529264666"/>
    <p:sldId xmlns:r="http://schemas.openxmlformats.org/officeDocument/2006/relationships" id="281" r:id="R10a85f654ea74771"/>
    <p:sldId xmlns:r="http://schemas.openxmlformats.org/officeDocument/2006/relationships" id="282" r:id="Rc87a78f9f90649f0"/>
    <p:sldId xmlns:r="http://schemas.openxmlformats.org/officeDocument/2006/relationships" id="283" r:id="R8ae2f993fae44678"/>
    <p:sldId xmlns:r="http://schemas.openxmlformats.org/officeDocument/2006/relationships" id="284" r:id="R7fdadedf727c40d8"/>
    <p:sldId xmlns:r="http://schemas.openxmlformats.org/officeDocument/2006/relationships" id="285" r:id="Rb9a2ab4e25da444c"/>
    <p:sldId xmlns:r="http://schemas.openxmlformats.org/officeDocument/2006/relationships" id="286" r:id="Rd45e07dfaaaf49be"/>
    <p:sldId xmlns:r="http://schemas.openxmlformats.org/officeDocument/2006/relationships" id="287" r:id="R3951955b08ee40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efb4e8b2974652" /><Relationship Type="http://schemas.openxmlformats.org/officeDocument/2006/relationships/slideMaster" Target="/ppt/slideMasters/slideMaster1.xml" Id="Rcf6fc5a1ee9a422a" /><Relationship Type="http://schemas.openxmlformats.org/officeDocument/2006/relationships/notesMaster" Target="/ppt/notesMasters/notesMaster1.xml" Id="Rf6f8139616764955" /><Relationship Type="http://schemas.openxmlformats.org/officeDocument/2006/relationships/presProps" Target="/ppt/presProps.xml" Id="R8eef7b7275394077" /><Relationship Type="http://schemas.openxmlformats.org/officeDocument/2006/relationships/tableStyles" Target="/ppt/tableStyles.xml" Id="Rb05b2308b4424b63" /><Relationship Type="http://schemas.openxmlformats.org/officeDocument/2006/relationships/slide" Target="/ppt/slides/slide1.xml" Id="Rea1cbe8433844913" /><Relationship Type="http://schemas.openxmlformats.org/officeDocument/2006/relationships/slide" Target="/ppt/slides/slide2.xml" Id="R37a9da61c1714689" /><Relationship Type="http://schemas.openxmlformats.org/officeDocument/2006/relationships/slide" Target="/ppt/slides/slide3.xml" Id="Ra4e646b2a7c04c34" /><Relationship Type="http://schemas.openxmlformats.org/officeDocument/2006/relationships/slide" Target="/ppt/slides/slide4.xml" Id="R88044f427f1f48e6" /><Relationship Type="http://schemas.openxmlformats.org/officeDocument/2006/relationships/slide" Target="/ppt/slides/slide5.xml" Id="R723b7b3222194e85" /><Relationship Type="http://schemas.openxmlformats.org/officeDocument/2006/relationships/slide" Target="/ppt/slides/slide6.xml" Id="Rea75e46c752b4b34" /><Relationship Type="http://schemas.openxmlformats.org/officeDocument/2006/relationships/slide" Target="/ppt/slides/slide7.xml" Id="R61b7af31763b4b69" /><Relationship Type="http://schemas.openxmlformats.org/officeDocument/2006/relationships/slide" Target="/ppt/slides/slide8.xml" Id="R89a895ba30b94e16" /><Relationship Type="http://schemas.openxmlformats.org/officeDocument/2006/relationships/slide" Target="/ppt/slides/slide9.xml" Id="R2a03e673a0d64a25" /><Relationship Type="http://schemas.openxmlformats.org/officeDocument/2006/relationships/slide" Target="/ppt/slides/slide10.xml" Id="Re07ade8887624dbc" /><Relationship Type="http://schemas.openxmlformats.org/officeDocument/2006/relationships/slide" Target="/ppt/slides/slide11.xml" Id="Rf3a21e5388694a15" /><Relationship Type="http://schemas.openxmlformats.org/officeDocument/2006/relationships/slide" Target="/ppt/slides/slide12.xml" Id="R22e0b66e21cc409a" /><Relationship Type="http://schemas.openxmlformats.org/officeDocument/2006/relationships/slide" Target="/ppt/slides/slide13.xml" Id="R864d051456f7435e" /><Relationship Type="http://schemas.openxmlformats.org/officeDocument/2006/relationships/slide" Target="/ppt/slides/slide14.xml" Id="Rf6ef927ec8e84291" /><Relationship Type="http://schemas.openxmlformats.org/officeDocument/2006/relationships/slide" Target="/ppt/slides/slide15.xml" Id="R266a274c7c394ac6" /><Relationship Type="http://schemas.openxmlformats.org/officeDocument/2006/relationships/slide" Target="/ppt/slides/slide16.xml" Id="R76f2e8e5590f4e29" /><Relationship Type="http://schemas.openxmlformats.org/officeDocument/2006/relationships/slide" Target="/ppt/slides/slide17.xml" Id="R7725d7eea54d481a" /><Relationship Type="http://schemas.openxmlformats.org/officeDocument/2006/relationships/slide" Target="/ppt/slides/slide18.xml" Id="R5a6d1927a03d4c3f" /><Relationship Type="http://schemas.openxmlformats.org/officeDocument/2006/relationships/slide" Target="/ppt/slides/slide19.xml" Id="R21889c379bf8491f" /><Relationship Type="http://schemas.openxmlformats.org/officeDocument/2006/relationships/slide" Target="/ppt/slides/slide20.xml" Id="R9c3a52f3bbf2406e" /><Relationship Type="http://schemas.openxmlformats.org/officeDocument/2006/relationships/slide" Target="/ppt/slides/slide21.xml" Id="R2dafd019f32a43a7" /><Relationship Type="http://schemas.openxmlformats.org/officeDocument/2006/relationships/slide" Target="/ppt/slides/slide22.xml" Id="R4d26c5fe89f14268" /><Relationship Type="http://schemas.openxmlformats.org/officeDocument/2006/relationships/slide" Target="/ppt/slides/slide23.xml" Id="Re693a13db74d4de7" /><Relationship Type="http://schemas.openxmlformats.org/officeDocument/2006/relationships/slide" Target="/ppt/slides/slide24.xml" Id="R242f89dd1761440e" /><Relationship Type="http://schemas.openxmlformats.org/officeDocument/2006/relationships/slide" Target="/ppt/slides/slide25.xml" Id="R00c7aea529264666" /><Relationship Type="http://schemas.openxmlformats.org/officeDocument/2006/relationships/slide" Target="/ppt/slides/slide26.xml" Id="R10a85f654ea74771" /><Relationship Type="http://schemas.openxmlformats.org/officeDocument/2006/relationships/slide" Target="/ppt/slides/slide27.xml" Id="Rc87a78f9f90649f0" /><Relationship Type="http://schemas.openxmlformats.org/officeDocument/2006/relationships/slide" Target="/ppt/slides/slide28.xml" Id="R8ae2f993fae44678" /><Relationship Type="http://schemas.openxmlformats.org/officeDocument/2006/relationships/slide" Target="/ppt/slides/slide29.xml" Id="R7fdadedf727c40d8" /><Relationship Type="http://schemas.openxmlformats.org/officeDocument/2006/relationships/slide" Target="/ppt/slides/slide30.xml" Id="Rb9a2ab4e25da444c" /><Relationship Type="http://schemas.openxmlformats.org/officeDocument/2006/relationships/slide" Target="/ppt/slides/slide31.xml" Id="Rd45e07dfaaaf49be" /><Relationship Type="http://schemas.openxmlformats.org/officeDocument/2006/relationships/slide" Target="/ppt/slides/slide32.xml" Id="R3951955b08ee40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753dc579f44e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3c332e4ba744db" /><Relationship Type="http://schemas.openxmlformats.org/officeDocument/2006/relationships/notesMaster" Target="/ppt/notesMasters/notesMaster1.xml" Id="R3b37e0a4191e4e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e0ba00c4734b54" /><Relationship Type="http://schemas.openxmlformats.org/officeDocument/2006/relationships/notesMaster" Target="/ppt/notesMasters/notesMaster1.xml" Id="R30337abb95fd4f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4ca9ffc062440c" /><Relationship Type="http://schemas.openxmlformats.org/officeDocument/2006/relationships/notesMaster" Target="/ppt/notesMasters/notesMaster1.xml" Id="R617d1c9f4c2e43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5e68ad34504a71" /><Relationship Type="http://schemas.openxmlformats.org/officeDocument/2006/relationships/notesMaster" Target="/ppt/notesMasters/notesMaster1.xml" Id="R024e7d7037d547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06006fa84e4e5c" /><Relationship Type="http://schemas.openxmlformats.org/officeDocument/2006/relationships/notesMaster" Target="/ppt/notesMasters/notesMaster1.xml" Id="R0fbe90ba8b5a49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6d8c6906094461" /><Relationship Type="http://schemas.openxmlformats.org/officeDocument/2006/relationships/notesMaster" Target="/ppt/notesMasters/notesMaster1.xml" Id="Rc55325b727834f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6f8e6a13b14897" /><Relationship Type="http://schemas.openxmlformats.org/officeDocument/2006/relationships/notesMaster" Target="/ppt/notesMasters/notesMaster1.xml" Id="R5c1c53889af24c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118469588448c5" /><Relationship Type="http://schemas.openxmlformats.org/officeDocument/2006/relationships/notesMaster" Target="/ppt/notesMasters/notesMaster1.xml" Id="R9e92c25d3cff4d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0fc76e990c4ff2" /><Relationship Type="http://schemas.openxmlformats.org/officeDocument/2006/relationships/notesMaster" Target="/ppt/notesMasters/notesMaster1.xml" Id="R84542d32f7e14d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dd977a120342b2" /><Relationship Type="http://schemas.openxmlformats.org/officeDocument/2006/relationships/notesMaster" Target="/ppt/notesMasters/notesMaster1.xml" Id="Rfec4257260784b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b7b98ccd5d4d8b" /><Relationship Type="http://schemas.openxmlformats.org/officeDocument/2006/relationships/notesMaster" Target="/ppt/notesMasters/notesMaster1.xml" Id="R02032aad62e04f4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707005bbbc4e3a" /><Relationship Type="http://schemas.openxmlformats.org/officeDocument/2006/relationships/notesMaster" Target="/ppt/notesMasters/notesMaster1.xml" Id="R9d699df1a13145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7ab6b3d72a04c73" /><Relationship Type="http://schemas.openxmlformats.org/officeDocument/2006/relationships/notesMaster" Target="/ppt/notesMasters/notesMaster1.xml" Id="Rb9af56a569354e6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cac3201c5849d1" /><Relationship Type="http://schemas.openxmlformats.org/officeDocument/2006/relationships/notesMaster" Target="/ppt/notesMasters/notesMaster1.xml" Id="Rd97a538965d546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45b11ffbb9c46c4" /><Relationship Type="http://schemas.openxmlformats.org/officeDocument/2006/relationships/notesMaster" Target="/ppt/notesMasters/notesMaster1.xml" Id="R0ee5867183614be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7b38c05182c4f33" /><Relationship Type="http://schemas.openxmlformats.org/officeDocument/2006/relationships/notesMaster" Target="/ppt/notesMasters/notesMaster1.xml" Id="Rf39d0559487c447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e1ecd30689b4c89" /><Relationship Type="http://schemas.openxmlformats.org/officeDocument/2006/relationships/notesMaster" Target="/ppt/notesMasters/notesMaster1.xml" Id="R5d34bab8f64f486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4fd5f0c9a9f4fae" /><Relationship Type="http://schemas.openxmlformats.org/officeDocument/2006/relationships/notesMaster" Target="/ppt/notesMasters/notesMaster1.xml" Id="R3a6c4b48d1884c7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a94e000c88a4701" /><Relationship Type="http://schemas.openxmlformats.org/officeDocument/2006/relationships/notesMaster" Target="/ppt/notesMasters/notesMaster1.xml" Id="Ra1bf8148f74d47f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81b21ebf9cc4bc9" /><Relationship Type="http://schemas.openxmlformats.org/officeDocument/2006/relationships/notesMaster" Target="/ppt/notesMasters/notesMaster1.xml" Id="R23ebe94ae745441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5562dd8b452429c" /><Relationship Type="http://schemas.openxmlformats.org/officeDocument/2006/relationships/notesMaster" Target="/ppt/notesMasters/notesMaster1.xml" Id="R758eef4c252e4d2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c4ca54ba1c049ac" /><Relationship Type="http://schemas.openxmlformats.org/officeDocument/2006/relationships/notesMaster" Target="/ppt/notesMasters/notesMaster1.xml" Id="Rd49de09929ee4e6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c3506d8f5f44544" /><Relationship Type="http://schemas.openxmlformats.org/officeDocument/2006/relationships/notesMaster" Target="/ppt/notesMasters/notesMaster1.xml" Id="R9dd4cfdc44ac485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0a7e1d4340c4cbf" /><Relationship Type="http://schemas.openxmlformats.org/officeDocument/2006/relationships/notesMaster" Target="/ppt/notesMasters/notesMaster1.xml" Id="R461f46f274784d6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ca0bd70dc9e4168" /><Relationship Type="http://schemas.openxmlformats.org/officeDocument/2006/relationships/notesMaster" Target="/ppt/notesMasters/notesMaster1.xml" Id="R72b6d4b183ee4ae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5dc39abf970431a" /><Relationship Type="http://schemas.openxmlformats.org/officeDocument/2006/relationships/notesMaster" Target="/ppt/notesMasters/notesMaster1.xml" Id="R278c8beb7769495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d92bf6864994e50" /><Relationship Type="http://schemas.openxmlformats.org/officeDocument/2006/relationships/notesMaster" Target="/ppt/notesMasters/notesMaster1.xml" Id="R88fd2d97b1064f9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d265d1240244843" /><Relationship Type="http://schemas.openxmlformats.org/officeDocument/2006/relationships/notesMaster" Target="/ppt/notesMasters/notesMaster1.xml" Id="R984b399758cc4dd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adf4e5dff0f41c7" /><Relationship Type="http://schemas.openxmlformats.org/officeDocument/2006/relationships/notesMaster" Target="/ppt/notesMasters/notesMaster1.xml" Id="Rd61543948dba4e1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088dbbbd0ec4e34" /><Relationship Type="http://schemas.openxmlformats.org/officeDocument/2006/relationships/notesMaster" Target="/ppt/notesMasters/notesMaster1.xml" Id="R38a31b6180f44ce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11f2463432440ea" /><Relationship Type="http://schemas.openxmlformats.org/officeDocument/2006/relationships/notesMaster" Target="/ppt/notesMasters/notesMaster1.xml" Id="R9b566bda11424d9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4934620d7d844c7" /><Relationship Type="http://schemas.openxmlformats.org/officeDocument/2006/relationships/notesMaster" Target="/ppt/notesMasters/notesMaster1.xml" Id="R9ffb05ea8d1d40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origin/main@12e2f0e</a:t>
            </a:r>
          </a:p>
          <a:p xmlns:a="http://schemas.openxmlformats.org/drawingml/2006/main">
            <a:r>
              <a:t>docs/interview-architecture/code-graph-analysis.json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architecture-decisions.md; risk-register.md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current source; docs/ARCHITECTURE_OPTIMIZATION_LOG_CN.md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tools/code_graph_analysis.py; code-graph-analysis.json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src/open_deep_research/web/server.py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research()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Request entry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2:</a:t>
            </a:r>
          </a:p>
          <a:p xmlns:a="http://schemas.openxmlformats.org/drawingml/2006/main">
            <a:r>
              <a:t>src/open_deep_research/deep_researcher.py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research_phase(); compile_final_report()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Graph and report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3:</a:t>
            </a:r>
          </a:p>
          <a:p xmlns:a="http://schemas.openxmlformats.org/drawingml/2006/main">
            <a:r>
              <a:t>src/open_deep_research/runtime/agent_runtime.py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AgentRuntime.run()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ReAct 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web/server.py; deep_researcher.py; runtime/; tools/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AST graph concurrency_points + LangGraph edges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src/open_deep_research/web/server.py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_RESEARCH_SEMAPHORE; event_stream()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Process-local request admission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src/open_deep_research/budget.py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can_spend_model_call(); filter_tool_calls_for_budget()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Current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2:</a:t>
            </a:r>
          </a:p>
          <a:p xmlns:a="http://schemas.openxmlformats.org/drawingml/2006/main">
            <a:r>
              <a:t>src/open_deep_research/state.py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runtime_reducer()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Post-execution merge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src/open_deep_research/runtime/agent_runtime.py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AgentRuntime.run()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asyncio.gather tool calls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2:</a:t>
            </a:r>
          </a:p>
          <a:p xmlns:a="http://schemas.openxmlformats.org/drawingml/2006/main">
            <a:r>
              <a:t>src/open_deep_research/runtime/business_agent.py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_execute_tool_safely()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Current exception handling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utils.py:tavily_search; architecture optimization log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deep_researcher.py:_write_sections_parallel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deep_researcher.py; tools/rag_tool.py; memory/writer.py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risk-register.md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risk-register.md; current 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src/open_deep_research/utils.py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tavily_search(); summarize_webpage()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Per-page summary fan-out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2:</a:t>
            </a:r>
          </a:p>
          <a:p xmlns:a="http://schemas.openxmlformats.org/drawingml/2006/main">
            <a:r>
              <a:t>docs/ARCHITECTURE_OPTIMIZATION_LOG_CN.md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2026-09-02 single-case measurement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Evidence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src/open_deep_research/deep_researcher.py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research_review(); route_after_research_review()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Structured gaps and dynamic follow-up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src/open_deep_research/runtime/agent_runtime.py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AgentRuntime.run(); _compact_history()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Context growth and trigger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2:</a:t>
            </a:r>
          </a:p>
          <a:p xmlns:a="http://schemas.openxmlformats.org/drawingml/2006/main">
            <a:r>
              <a:t>src/open_deep_research/research_graph/compaction.py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rolling_compact()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Conversation compaction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src/open_deep_research/budget.py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can_spend_model_call(); filter_tool_calls_for_budget()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Current non-reserving guard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2:</a:t>
            </a:r>
          </a:p>
          <a:p xmlns:a="http://schemas.openxmlformats.org/drawingml/2006/main">
            <a:r>
              <a:t>src/open_deep_research/state.py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runtime_reducer()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Post-execution merge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risk-register.md; current 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1:</a:t>
            </a:r>
          </a:p>
          <a:p xmlns:a="http://schemas.openxmlformats.org/drawingml/2006/main">
            <a:r>
              <a:t>docs/interview-architecture/architecture-decisions.md</a:t>
            </a:r>
          </a:p>
          <a:p xmlns:a="http://schemas.openxmlformats.org/drawingml/2006/main">
            <a:r>
              <a:t>Symbol:</a:t>
            </a:r>
          </a:p>
          <a:p xmlns:a="http://schemas.openxmlformats.org/drawingml/2006/main">
            <a:r>
              <a:t>ADR-001</a:t>
            </a:r>
          </a:p>
          <a:p xmlns:a="http://schemas.openxmlformats.org/drawingml/2006/main">
            <a:r>
              <a:t>Why:</a:t>
            </a:r>
          </a:p>
          <a:p xmlns:a="http://schemas.openxmlformats.org/drawingml/2006/main">
            <a:r>
              <a:t>Orchestration and deployment trade-off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architecture-decisions.md; architecture patterns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architecture-decisions.md ADR-003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risk-register.md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architecture-decisions.md; risk-register.md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current source + code graph + cost case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risk-register.md; source code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architecture-decisions.md; risk-register.md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interview-question-bank.md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interview-question-bank.md; interview-source-map.md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interview-question-bank.md Q5/Q6/Q11/Q12/Q13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interview-question-bank.md; interview-source-map.md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128614c01a4d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524e7b580a4f9d" /><Relationship Type="http://schemas.openxmlformats.org/officeDocument/2006/relationships/slideLayout" Target="/ppt/slideLayouts/slideLayout1.xml" Id="R5f7f67eda62e42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7f67eda62e42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7d6661e884c9f" /><Relationship Type="http://schemas.openxmlformats.org/officeDocument/2006/relationships/notesSlide" Target="/ppt/notesSlides/notesSlide1.xml" Id="R305987fc9b6b45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705b6ec5b4f3a" /><Relationship Type="http://schemas.openxmlformats.org/officeDocument/2006/relationships/notesSlide" Target="/ppt/notesSlides/notesSlide2.xml" Id="R07b4ac32dfac4f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f6d77acdc4c13" /><Relationship Type="http://schemas.openxmlformats.org/officeDocument/2006/relationships/notesSlide" Target="/ppt/notesSlides/notesSlide3.xml" Id="R0510225d60e348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cb68dfa584cd0" /><Relationship Type="http://schemas.openxmlformats.org/officeDocument/2006/relationships/notesSlide" Target="/ppt/notesSlides/notesSlide4.xml" Id="Rc65a311ff0ca45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9d5b726e64b99" /><Relationship Type="http://schemas.openxmlformats.org/officeDocument/2006/relationships/notesSlide" Target="/ppt/notesSlides/notesSlide5.xml" Id="R1ae90079182641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1303d5df44367" /><Relationship Type="http://schemas.openxmlformats.org/officeDocument/2006/relationships/notesSlide" Target="/ppt/notesSlides/notesSlide6.xml" Id="Rfb1d0d975d2e4e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daf2afa5d4724" /><Relationship Type="http://schemas.openxmlformats.org/officeDocument/2006/relationships/notesSlide" Target="/ppt/notesSlides/notesSlide7.xml" Id="Rfbc4f283417142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dd5deb11648f7" /><Relationship Type="http://schemas.openxmlformats.org/officeDocument/2006/relationships/notesSlide" Target="/ppt/notesSlides/notesSlide8.xml" Id="Rdb3402730bcc45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52c5092714cfa" /><Relationship Type="http://schemas.openxmlformats.org/officeDocument/2006/relationships/notesSlide" Target="/ppt/notesSlides/notesSlide9.xml" Id="R57b705b329a546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0d0b3e8324cea" /><Relationship Type="http://schemas.openxmlformats.org/officeDocument/2006/relationships/notesSlide" Target="/ppt/notesSlides/notesSlide10.xml" Id="Rdedac289073542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c2531e2004abf" /><Relationship Type="http://schemas.openxmlformats.org/officeDocument/2006/relationships/notesSlide" Target="/ppt/notesSlides/notesSlide11.xml" Id="Rfc1b34c08ee948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4e1f14ec64c3a" /><Relationship Type="http://schemas.openxmlformats.org/officeDocument/2006/relationships/notesSlide" Target="/ppt/notesSlides/notesSlide12.xml" Id="R8c477946bb604f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ee236550048d0" /><Relationship Type="http://schemas.openxmlformats.org/officeDocument/2006/relationships/notesSlide" Target="/ppt/notesSlides/notesSlide13.xml" Id="Rcc4c69b925d4425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6780841ea46a5" /><Relationship Type="http://schemas.openxmlformats.org/officeDocument/2006/relationships/notesSlide" Target="/ppt/notesSlides/notesSlide14.xml" Id="R197d69a8dfc8498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64019656e49a3" /><Relationship Type="http://schemas.openxmlformats.org/officeDocument/2006/relationships/notesSlide" Target="/ppt/notesSlides/notesSlide15.xml" Id="R5e4c9a35b8cc4da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906f5ea274170" /><Relationship Type="http://schemas.openxmlformats.org/officeDocument/2006/relationships/notesSlide" Target="/ppt/notesSlides/notesSlide16.xml" Id="R55f1d5e806c940e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ab3a5b3114c2f" /><Relationship Type="http://schemas.openxmlformats.org/officeDocument/2006/relationships/notesSlide" Target="/ppt/notesSlides/notesSlide17.xml" Id="R8dcde35a6e95457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0224d94914c19" /><Relationship Type="http://schemas.openxmlformats.org/officeDocument/2006/relationships/notesSlide" Target="/ppt/notesSlides/notesSlide18.xml" Id="R33a03d03c17f490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d58066516494f" /><Relationship Type="http://schemas.openxmlformats.org/officeDocument/2006/relationships/notesSlide" Target="/ppt/notesSlides/notesSlide19.xml" Id="R4da655aa04bf424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303f35ecc4dd1" /><Relationship Type="http://schemas.openxmlformats.org/officeDocument/2006/relationships/notesSlide" Target="/ppt/notesSlides/notesSlide20.xml" Id="R84957e93736445b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7e9b216864153" /><Relationship Type="http://schemas.openxmlformats.org/officeDocument/2006/relationships/notesSlide" Target="/ppt/notesSlides/notesSlide21.xml" Id="R24189aa39f4948e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fc06d2f094c8f" /><Relationship Type="http://schemas.openxmlformats.org/officeDocument/2006/relationships/notesSlide" Target="/ppt/notesSlides/notesSlide22.xml" Id="Rdd196134970640e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257813c2c4897" /><Relationship Type="http://schemas.openxmlformats.org/officeDocument/2006/relationships/notesSlide" Target="/ppt/notesSlides/notesSlide23.xml" Id="R0abf311151f3475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a333f9c8b42ce" /><Relationship Type="http://schemas.openxmlformats.org/officeDocument/2006/relationships/notesSlide" Target="/ppt/notesSlides/notesSlide24.xml" Id="Rca0708cf1b1b4dc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abb18ed0b43fc" /><Relationship Type="http://schemas.openxmlformats.org/officeDocument/2006/relationships/notesSlide" Target="/ppt/notesSlides/notesSlide25.xml" Id="R5a2cfa5586a744d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e6cf54d5d42ea" /><Relationship Type="http://schemas.openxmlformats.org/officeDocument/2006/relationships/notesSlide" Target="/ppt/notesSlides/notesSlide26.xml" Id="R5be9d0ae107f40c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8d757c8b744b4" /><Relationship Type="http://schemas.openxmlformats.org/officeDocument/2006/relationships/notesSlide" Target="/ppt/notesSlides/notesSlide27.xml" Id="R5edfc83da7c74e3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ffbd992fd4aae" /><Relationship Type="http://schemas.openxmlformats.org/officeDocument/2006/relationships/notesSlide" Target="/ppt/notesSlides/notesSlide28.xml" Id="R661ce5cc3feb4f0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57d013a564c2a" /><Relationship Type="http://schemas.openxmlformats.org/officeDocument/2006/relationships/notesSlide" Target="/ppt/notesSlides/notesSlide29.xml" Id="R6aa94f9b799b46a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53d861cf44b99" /><Relationship Type="http://schemas.openxmlformats.org/officeDocument/2006/relationships/notesSlide" Target="/ppt/notesSlides/notesSlide30.xml" Id="Rd2bb838e0be54ed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f33d8036a4e8d" /><Relationship Type="http://schemas.openxmlformats.org/officeDocument/2006/relationships/notesSlide" Target="/ppt/notesSlides/notesSlide31.xml" Id="Ra26ac6bd85ba463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364f879174dff" /><Relationship Type="http://schemas.openxmlformats.org/officeDocument/2006/relationships/notesSlide" Target="/ppt/notesSlides/notesSlide32.xml" Id="R21b5e8062e3041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EA3C5F-ABB7-49D4-AB2E-2AD41FDC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63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INTERVIEW ARCHITECTURE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8C947-AEBB-4E2E-8F11-743219CB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58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Public Opinion Research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67733-C4B4-435D-B1AA-288C93E4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8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架构深挖与演进设计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E7C14-F567-4C2A-BB91-C4BF781E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9562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 b="0">
                <a:solidFill>
                  <a:srgbClr val="CBD2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BD2D8"/>
                </a:solidFill>
                <a:latin typeface="Microsoft YaHei"/>
                <a:ea typeface="Microsoft YaHei"/>
                <a:cs typeface="Microsoft YaHei"/>
              </a:rPr>
              <a:t>核心链路 · 并发边界 · 高风险代码 · 设计取舍 · 分阶段升级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0F783-580A-41D8-A440-831E6BFD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4095750"/>
            <a:ext cx="1062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51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658BF-6869-4FB4-99A0-34661B37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5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代码基线  origin/main @ 12e2f0e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A9D6A-6014-4853-B97B-94A6F96F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196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01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AAB3B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AAB3BC"/>
                </a:solidFill>
                <a:latin typeface="Consolas"/>
                <a:ea typeface="Consolas"/>
                <a:cs typeface="Consolas"/>
              </a:rPr>
              <a:t>静态图谱 84 files / 951 internal symbols / 922 internal edges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22570-2204-481D-85F5-5F99D9C1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6858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52B32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61731-9A24-4D34-AF7F-C1CCD477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148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FE230-D0B9-4B0E-B5D9-4C683F6F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76750"/>
            <a:ext cx="6858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52B32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A5F92F-6299-4D25-B6BC-A338AD60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148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ASYNC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8ACB5-B796-464D-AD26-C65ED4D0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76750"/>
            <a:ext cx="6858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52B32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D8F41F-C3E3-4028-BBE0-FAC94AC9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7148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56EC0C-A074-4A79-8298-942D24C6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476750"/>
            <a:ext cx="6858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52B32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FBC91-F49D-40A1-B431-B049333F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7148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ADR</a:t>
            </a:r>
          </a:p>
        </p:txBody>
      </p:sp>
    </p:spTree>
    <p:extLst>
      <p:ext uri="{BB962C8B-B14F-4D97-AF65-F5344CB8AC3E}">
        <p14:creationId xmlns:p14="http://schemas.microsoft.com/office/powerpoint/2010/main" val="2808535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6C394D-8A20-4ADD-8546-FA1549C8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01 / FRAMING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903F9-E57B-44CD-84D2-7D8314A9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面试讲述主线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516676-FFEB-49E7-969D-0A6B6F2F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3CD57-FCB1-4F41-895E-531EB3D8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architecture-decisions.md; risk-register.md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12052-ABF2-4D76-9C35-4AA1B46E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51CBB-1B6E-4C4D-A373-E27612BD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095500"/>
            <a:ext cx="2047875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9936B-5C0F-434B-AEB8-AE9A52DF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209800"/>
            <a:ext cx="1781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53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8716A-4C27-4209-B9E1-E1C46B06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533650"/>
            <a:ext cx="17811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舆情研究需要多源证据、角色分工与可追踪报告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06084-3128-4427-ABE4-353A0A73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81250" y="280987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FC994-3C85-47CA-BE51-C546A79F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19375" y="27717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7B60D-36AB-4EDD-BCE8-4E871906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095500"/>
            <a:ext cx="2047875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2A669-304D-4A83-BC93-5562C39C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209800"/>
            <a:ext cx="1781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53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83B9C4-952B-4AB8-AEDA-312AEE95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533650"/>
            <a:ext cx="17811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显式 Graph + 模块化单体 + 进程内并发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25A74-5A97-4BFE-A975-85F82167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43450" y="280987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3B9810-1B7F-4E7C-97F0-320077EE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81575" y="27717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768B4-0CFE-4008-88F5-A2826C64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095500"/>
            <a:ext cx="2047875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538472-C8D8-4998-BCE0-924D7A3E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09800"/>
            <a:ext cx="1781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53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CEC7B2-4B17-4D35-B60E-9751DA6D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33650"/>
            <a:ext cx="17811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代码图谱、成本 Case、并发点和失败边界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CE306-5A12-4CEC-AF5A-449792D9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05650" y="280987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ED7EF1-CD1A-4036-815E-F8034DCF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43775" y="27717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8AD7B2-6990-45E4-8D99-AA3C48AA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095500"/>
            <a:ext cx="2047875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FF3A97-E773-4B3B-8986-DC6AB8AA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209800"/>
            <a:ext cx="1781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53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Trade-off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D5487B-6F37-437C-AB99-6919D36D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533650"/>
            <a:ext cx="17811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质量、成本、延迟和运维复杂度的平衡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1A2434-9769-461F-AB61-114A84FC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67850" y="280987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335A6C-80C6-43A8-8C57-461B4C67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705975" y="27717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F02D98-EA38-4EC6-B8F4-4A0E23AB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095500"/>
            <a:ext cx="2047875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EB8178-C4AB-4836-8F24-43D022AB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209800"/>
            <a:ext cx="1781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53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Upgrade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41B1F7-F5BD-466F-A80E-B18D6AD1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533650"/>
            <a:ext cx="17811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有触发条件的演进，而不是预先微服务化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B1E363-F97C-4839-BC17-76AF11C6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0668000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63DA9A-DB53-4B30-9743-FD238C83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00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面试表达模板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726F40-B1BA-41AE-8A30-E4129586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10191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0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“我当时已经识别到这个风险。结合当前请求规模、团队边界和运维成本，我们选择了 X，并用 Y 控制最坏情况。业务达到 Z 条件后，再升级到方案 W。”</a:t>
            </a:r>
          </a:p>
        </p:txBody>
      </p:sp>
    </p:spTree>
    <p:extLst>
      <p:ext uri="{BB962C8B-B14F-4D97-AF65-F5344CB8AC3E}">
        <p14:creationId xmlns:p14="http://schemas.microsoft.com/office/powerpoint/2010/main" val="17527291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FA881D-96BE-4CD9-B2DF-3C6AE484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01 / FRAMING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5AB29-CD11-4A65-98D0-87FFA090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当前场景与设计约束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27687-ED39-4277-90AF-C95F1ED3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A3AFB-6739-4730-B0D7-BB87C83C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current source; docs/ARCHITECTURE_OPTIMIZATION_LOG_CN.md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B6D32-572B-448B-BC38-E7003C41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BB94B-DCDC-4C48-ADFE-9922EADA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01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0BC6D-051E-45BE-9512-5B95B246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573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8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4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任务形态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C54F2-9918-4CDE-B011-3D8EDFC3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5732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单次研究长、外部 I/O 多、输出要求高证据密度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1AD4F-53B1-4F2F-9DE0-DE864B26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19716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C3470-F098-4332-9E39-92D36BA2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01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87309-B861-4313-B598-E9E354A9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66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8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4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质量要求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4A89D-059A-4452-94B6-6A30E50C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允许 Review 发现 gap 并补查，不接受简单一次生成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25F9C-5C02-4CA9-957C-694C4F04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27813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0DE648-AA07-428B-AA21-FEF7B2C9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01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B3197-3ACD-4F45-B4FD-2B9B3377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76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8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4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成本事实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70695-F926-4DF1-BDA2-DEED81C9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7657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模型和网页摘要是主要成本，Follow-up 拉长尾部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E18350-7BBF-499D-84C1-D725ECFB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35909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F1A1BF-9003-4F33-B342-541EC826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01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AD5EBD-E731-410A-BF4C-B20467AD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86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8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4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运行边界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0E1E30-1AE1-4E87-A719-B5F3B95E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862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单 Python 部署；Web 有本地 Semaphore；可选外部存储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73036-7288-4BEF-885E-AA95A7ED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44005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B8A0B3-407E-46ED-B851-5D45614D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01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CD76C9-5359-4A14-8D6D-E432600E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958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8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4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工程目标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646009-D1B4-47EF-86E3-F1FD2AC3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9582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先让调用链可调试、预算可控，再扩张基础设施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764812-0E27-404B-98F7-ACDD9F6D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52101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DF3B6F-D864-4355-97C0-F2FB3939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5727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485D24-7230-4D08-9116-9EC8603A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435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2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设计原则：不为假设规模付出分布式复杂度；但把升级边界、风险和观测指标提前设计好。</a:t>
            </a:r>
          </a:p>
        </p:txBody>
      </p:sp>
    </p:spTree>
    <p:extLst>
      <p:ext uri="{BB962C8B-B14F-4D97-AF65-F5344CB8AC3E}">
        <p14:creationId xmlns:p14="http://schemas.microsoft.com/office/powerpoint/2010/main" val="9603457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8B98D1-9F62-4BB8-88E1-45339A30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02 / CODE GRAPH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35E03-C602-4BF5-84DF-6B3EA0DB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静态代码图谱方法与边界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56201-BC71-43D7-91A2-47FA91E8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CDCC4-E05A-42E9-8093-911DDE47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tools/code_graph_analysis.py; code-graph-analysis.json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E3A35-5CA4-48EA-B3AF-2F6D6D62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EA1BE-C522-46EF-83D7-0F0C092E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2238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255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F6B41-FABC-48C1-80ED-47C00629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Python files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13EC7-87D3-4CA5-9AEB-990D481D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71625"/>
            <a:ext cx="2238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2550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951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AFA79-B00A-4700-A386-3C4BB6A2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9550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internal symbols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EE8F9-622C-4BCB-B044-69355532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571625"/>
            <a:ext cx="2238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255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922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54DA4-2038-40B3-A843-0283CDCC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9550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internal call edges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7913B2-EA00-4993-985D-679A0760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571625"/>
            <a:ext cx="2238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255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4117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AEAA2-ED0F-4BBF-A5C4-28876A27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09550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all detected edges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440A4A-B467-4743-AF08-C92C5F77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9875"/>
            <a:ext cx="533400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B2CF06-0A80-4EA8-99B5-66E951A9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03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分析步骤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8A5E2E-810A-4CFD-B1F5-7A715148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466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AST 收集函数、异步函数与类方法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2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解析 import alias 和直接调用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2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NetworkX 生成 symbol graph 与 module graph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2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检测 gather / to_thread / Thread / Send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2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结合源码和成本记录校验动态链路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43ECC6-E7E9-4F6B-BDA4-148AC229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9875"/>
            <a:ext cx="533400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87F31E-F1F7-4865-B034-6A3439C8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003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图谱限制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E57AFB-045D-4185-BFB8-7FA32D49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76625"/>
            <a:ext cx="466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LangGraph add_node / add_edge 是注册关系，不是普通 call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2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bind_tools 和 BaseTool 依赖运行时动态分派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2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模型工厂、Pydantic 和 MCP schema 让静态边低估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2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因此不把 centrality 数值当成真实性能排名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F2E62C-F9CC-4264-AB3D-1D6746E8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11049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1F2C49-B7F2-44CC-A744-809E67E8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63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输出可复核：code-graph.graphml + code-graph-analysis.json + risk-register.md</a:t>
            </a:r>
          </a:p>
        </p:txBody>
      </p:sp>
    </p:spTree>
    <p:extLst>
      <p:ext uri="{BB962C8B-B14F-4D97-AF65-F5344CB8AC3E}">
        <p14:creationId xmlns:p14="http://schemas.microsoft.com/office/powerpoint/2010/main" val="1963183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B96C9F-EFD0-49EB-80E0-538F2E9D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02 / CODE GRAPH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D10D0-F7A4-403A-91EA-C2087F74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面试需要记住的核心代码链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77489-A7B4-4293-B4E5-EB61EEF9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CBD55D-F674-4A3F-9DBD-A4C3F360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source modules; code-graph-analysis.json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A78DC-DE76-470E-B1A1-B6912BCD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2657E1-0B57-489C-AF79-72F6FC1D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857375"/>
            <a:ext cx="1666875" cy="1714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2EE340-53BE-40BC-895C-9F638D79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971675"/>
            <a:ext cx="1400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5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HTTP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683569-A2D9-47DC-A5DE-7F507C2B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295525"/>
            <a:ext cx="14001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web/server.py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1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research()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4F0C9E-86AB-4D60-B31A-FA78CCF5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00250" y="27146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DB5BED8-1DE5-4A28-8EB8-B71C2AE9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209800" y="26765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4D16159-84E5-4B23-8F73-66778FAD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57375"/>
            <a:ext cx="1666875" cy="1714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F56D4C1-8F3F-417F-8BBD-64251BF3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971675"/>
            <a:ext cx="1400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5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GRAPH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FAE480E-5305-4759-90D0-A0B8DFA6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95525"/>
            <a:ext cx="14001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deep_researcher.py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1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deep_researcher() / research_phase()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45385B-3AD6-4C6A-B352-BB6F7887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52875" y="27146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ACF1D7-9F9B-4993-83D8-6CFA369E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62425" y="26765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D4F76E6-4055-481E-90B1-2AD31257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57375"/>
            <a:ext cx="1666875" cy="1714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D1B34B1-88B4-459B-A397-CB556052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971675"/>
            <a:ext cx="1400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3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AGENT ASSEMBLY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10FE1A7-F5AC-408D-B3CB-A5E4DA74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295525"/>
            <a:ext cx="14001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runtime/business_agent.py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1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run_business_agent()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75B142E-E30A-423D-88E3-A15F4CEF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0" y="27146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5BA0B7B-BB77-4DB7-8388-1BB90499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15050" y="26765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87C016A-1DF4-4701-B9EA-3D1925BC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1666875" cy="1714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16EE352-7CD5-46A1-B56D-D841AB41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1400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5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REACT RUNTIME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BCFE78B-7328-490A-A5D1-9C4E3F35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95525"/>
            <a:ext cx="14001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runtime/agent_runtime.py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1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AgentRuntime.run()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7E05C8D-2FDB-4EE0-8744-9071B29A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58125" y="27146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F7E180A-D957-4588-9E5B-F1E12A8C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67675" y="26765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DE44C29-7C4C-415A-8F8B-7161C911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57375"/>
            <a:ext cx="1666875" cy="1714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E0E6AE0-BB51-476A-9FB1-528492DF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971675"/>
            <a:ext cx="1400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5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CAPABILITIES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BB4214C-DBE4-439E-A14C-AE9D8BC5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295525"/>
            <a:ext cx="14001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utils.py / tools/ / mcp/ / rag/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1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get_all_tools() / rag_search() / load_mcp_tools()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E743D1C-4F70-42BF-908C-2DC5B4F2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10750" y="27146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DA6F2F8-2F77-4292-B338-12236889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020300" y="26765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4D84FB7-21B6-4C1C-BD09-FB2A6B83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57375"/>
            <a:ext cx="1666875" cy="1714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D2E12B3-91D1-48B8-B496-78D55E6D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971675"/>
            <a:ext cx="1400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5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STATE + REPORT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9269341-4775-42B7-8640-D3889C56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295525"/>
            <a:ext cx="14001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state.py / deep_researcher.py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81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*_reducer / compile_final_report()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A4379FC-1FBA-4E64-A1F7-3B5F6A57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572750" cy="904875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6679388-7C1C-4143-80A4-B6E71A4E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00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32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面试记忆法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7E5DFB4-98C1-4EA1-89C4-D1D074BE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624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36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项目有 84 个 Python 文件，但运行主链可以压缩成：入口 → Graph → Agent 装配 → ReAct Runtime → Tool/RAG/MCP → State/Report。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4802EC9-90B1-4729-A9A8-238295DD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57275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93F978D-0105-4FED-856B-C35E4129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53075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2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看到任一架构问题，都先回到这 6 个模块定位调用方、被调用方和状态变化。</a:t>
            </a:r>
          </a:p>
        </p:txBody>
      </p:sp>
    </p:spTree>
    <p:extLst>
      <p:ext uri="{BB962C8B-B14F-4D97-AF65-F5344CB8AC3E}">
        <p14:creationId xmlns:p14="http://schemas.microsoft.com/office/powerpoint/2010/main" val="7784881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D22EA90-7BD9-45FC-8AD9-4E8D522F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02 / CODE GRAPH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1BCE3-C8F7-4262-9607-9EE0CF6E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一次请求的函数级调用链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C6468-875C-495B-8A45-B67628C7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3E481-E723-4DFE-9813-7EDD47FF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web/server.py; deep_researcher.py; runtime/; tools/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D5468-1B33-45E2-8A35-14172CBE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AACB621-B886-4A6D-A003-4B7B0174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0"/>
            <a:ext cx="2095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4D8355D-F455-45EA-B68A-DDBE8F44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430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6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POST /api/research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BB35969-192F-460E-8F34-F7D40A30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66900"/>
            <a:ext cx="1828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web/server.py → research()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788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IN request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788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OUT initial_state + config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87E8AB5-E856-4CF0-9ACA-148BA319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81250" y="2114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599E922-433D-43C2-BEB9-A2136D90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571750" y="20764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7235E0D-4070-43D6-91DD-1CE43E35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428750"/>
            <a:ext cx="2095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82EAF99-AB54-473C-BDA1-1FFD1CD6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5430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6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graph.astream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7A93C9B-D5A7-421D-8E25-7D175327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66900"/>
            <a:ext cx="1828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LangGraph Pregel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788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IN state + config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788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OUT node updates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6FC335E-7CFC-49B2-A0F1-8717DA45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43450" y="2114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EFE7F86-2D94-4382-8B12-365920A7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33950" y="20764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7C39E0B-D29D-42D9-88BB-DBCE5233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28750"/>
            <a:ext cx="2095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73E529F-EE9F-4225-82AB-C8A761C3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430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6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Brief + Plan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F215780-4F67-4420-BFE9-A68B1016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66900"/>
            <a:ext cx="1828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write_research_brief()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788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plan_report_sections()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788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OUT workflow.brief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788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report.sections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EF12919-6F9D-4DE3-BE03-361E9D52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05650" y="2114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1F513CA-9F57-4345-8D2E-42D2CED7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296150" y="20764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C09071D-AE93-40AC-A2F5-00232891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428750"/>
            <a:ext cx="2095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3E8C0EA-C9B3-46DE-8FAC-C5300A64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5430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6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Research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538FC09-37D5-4A58-B506-48B343BD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866900"/>
            <a:ext cx="1828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research_phase()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788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public_opinion_subgraph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788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OUT agents + research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E2D0959-1ED6-4721-9550-336C7C1C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67850" y="21145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C372D11-D5AE-4384-9770-9AF58636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58350" y="20764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EEEB505-7A29-49A3-B819-EBB70DA1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428750"/>
            <a:ext cx="2095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1A22EBC-85EF-4565-9360-07E6EEA2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5430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6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Agent Runtime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C871535-1E62-4BCB-9F34-0229125E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866900"/>
            <a:ext cx="1828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run_business_agent()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788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AgentRuntime.run()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788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OUT AgentRuntimeResult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CF1CD44-DF7C-4D0A-9FBB-4251BA05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81375"/>
            <a:ext cx="2095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B352102-D57F-4669-8218-0672A7CD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9567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6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LLM ↔ Tool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887BB37-673E-487D-BD00-A13C3019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9525"/>
            <a:ext cx="1828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model.ainvoke()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788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tool.ainvoke()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788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OUT AIMessage / ToolMessage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64D8BA7-B782-4DFF-A7AA-1D15CCB7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81250" y="40671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23A7806-BB8D-4017-B73E-A027F5F1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571750" y="40290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F613613-9B7E-4876-A182-ACD8B645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81375"/>
            <a:ext cx="2095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388242A-FF75-44F9-A0DC-1A7526B6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9567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6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State Merge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502B0AE-3873-4B72-BA7F-94BA40AB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19525"/>
            <a:ext cx="1828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state.py → *_reducer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788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IN State Patch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788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OUT merged state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E7B7EDB-9908-4773-9990-02503B97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43450" y="40671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8F4482D-33A3-4743-B4CC-E7537409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33950" y="40290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C2F655B-EE1F-472C-A636-70C67BD3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81375"/>
            <a:ext cx="2095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D484D92-3871-4027-8D70-19884D30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9567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6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Report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02B8738-74BB-4D3E-BC94-31CE1166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19525"/>
            <a:ext cx="1828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section_writer()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788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compile_final_report()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788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OUT report.final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BEF2540-6025-493F-B2C8-05242A41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05650" y="40671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5708E94-098B-4515-8246-60359163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296150" y="40290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5306216-FBE7-43DD-961A-34682B4F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81375"/>
            <a:ext cx="2095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7004495-D2F1-43BC-87DC-E31209FB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9567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6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SSE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FA64DBD-0945-4EED-AB01-8EA22449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19525"/>
            <a:ext cx="1828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server.py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788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report + usage + done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C02396A-564F-4968-A2F1-97962092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72750" y="2809875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AE5E8BA-728D-4AA3-B811-D6302C0C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333500" y="309562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538331C-96BB-4724-8797-88FFB82B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33500" y="3095625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AF42D95-49B5-487B-84EB-31BA944C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95400" y="33051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794F832-C05D-463D-8D4F-07D0BEDF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5727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242327B-676C-4623-BFDA-8A49E16E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24525"/>
            <a:ext cx="1019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86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1013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断点：research() → research_phase() → AgentRuntime.run() → compile_final_report()</a:t>
            </a:r>
          </a:p>
        </p:txBody>
      </p:sp>
    </p:spTree>
    <p:extLst>
      <p:ext uri="{BB962C8B-B14F-4D97-AF65-F5344CB8AC3E}">
        <p14:creationId xmlns:p14="http://schemas.microsoft.com/office/powerpoint/2010/main" val="18339234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597973-82F2-4880-80DC-5699AE78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03 / CONCURRENCY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2CA56-774E-4943-92F8-4ABC38CA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并发点总览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06552-FE7F-406A-BA1C-E09D994A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15FCC-567E-442E-AB61-AEEF5B2B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AST graph concurrency_points + LangGraph edges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3EB02D-B6CB-4669-A0BA-9D10FBEB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9C250-21D4-4C50-9C81-C24EA0B6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71625"/>
            <a:ext cx="2095500" cy="1571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CE2D0-A29E-43E8-926E-8893D68E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Request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65EA7-0077-4E13-9055-C114C81C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6692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asyncio.Semaphore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E2CC6-6C80-4357-898F-20254D2E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per-process admission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769CB-5DA0-4A16-AFA3-A8C5DA6A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71625"/>
            <a:ext cx="2095500" cy="1571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85C05-11D9-41D7-AC7D-D862B2B8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Graph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AEAE6-B496-4A36-B5AF-E9162FAD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6692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START fan-out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519288-D5C8-4C00-9469-40DC8CE1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7175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public ∥ internal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632106-5C77-4B07-AC1D-41E3403A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571625"/>
            <a:ext cx="2095500" cy="1571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1859AC-C350-404E-8E84-6C6FFEFF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Graph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7DCE65-6335-4805-BE41-DC0113B8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6692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Send(...) fan-out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18A165-7A65-4279-8DE2-6896ACF2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7175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role-specific follow-up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007C68-4F78-4AD9-9CFF-AF3DA24E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571625"/>
            <a:ext cx="2095500" cy="1571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1CB035-4459-4956-80C2-8E26EF0C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B71B27-42BB-454C-BB7F-9C1DA964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6692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asyncio.gather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8B6B79-428A-4079-AEF4-6BE591BD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7175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tool calls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E09E0A-FF45-4EA9-877D-F5AEB47A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571625"/>
            <a:ext cx="2095500" cy="1571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343239-E2BA-493E-85FC-CB44DE73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695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FB7D04-87C1-4411-83F1-D3BA29B1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06692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asyncio.gather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414C06-4AFC-41C6-AC8E-FCEC8A3E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7175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queries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416115-907D-4053-8E42-4651D5F9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67125"/>
            <a:ext cx="2095500" cy="1571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0C3AAD-DFA2-439E-85AE-F7BC5763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909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Search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33181C-B89B-4D2A-A6DA-607C846A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6242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asyncio.gather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16444D-BA7F-4682-8B72-87362703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per-URL summaries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3A68F2-1A0E-4842-84DD-F7CCB2AB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67125"/>
            <a:ext cx="2095500" cy="1571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024B35-9F78-4339-8C74-127E85E5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909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Writer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625EA4-6BC6-4642-8D88-6292BD56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6242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asyncio.gather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213ADA-0A5B-44AC-BBF9-CFF507B2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6725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sections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919D24-CB2E-4330-8829-E87653B3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67125"/>
            <a:ext cx="2095500" cy="1571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40165B-6DE7-4EF3-BAC4-3202CCB2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909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RAG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974508-2CDB-4572-B4D2-FC110592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6242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asyncio.to_thread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77A644-990F-4AF7-A17B-CB2ECC81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6725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rewrite + query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042BCE-D0B5-4561-975E-36618375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67125"/>
            <a:ext cx="2095500" cy="1571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89AFBE-C271-45BC-93A0-AA307988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909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Images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93F16E-194D-4E59-BACD-D7135348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6242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asyncio.to_thread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70D4AE-52C2-487F-B24C-6897FA4C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6725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OCR / vision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CA4D07-C344-45C1-A30D-81790AEE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67125"/>
            <a:ext cx="2095500" cy="1571625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2C4694-AA79-46BC-9A72-19FFB924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7909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Memory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B39C10-4841-4112-A44A-DC03101C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16242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daemon Thread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6F3DCB-7E23-40AC-B6BD-AC585661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66725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background index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332C7F-2274-4C83-B3D1-492F579E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572750" cy="42862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40636FD-3AE6-4ADF-8C47-47751DDD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34050"/>
            <a:ext cx="1019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42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并发收益是缩短 wall-clock；主要代价是预算竞争、外部资源放大和取消/恢复复杂度。</a:t>
            </a:r>
          </a:p>
        </p:txBody>
      </p:sp>
    </p:spTree>
    <p:extLst>
      <p:ext uri="{BB962C8B-B14F-4D97-AF65-F5344CB8AC3E}">
        <p14:creationId xmlns:p14="http://schemas.microsoft.com/office/powerpoint/2010/main" val="15765714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7A7F27-8043-465F-932E-CEE92F1E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03 / CONCURRENCY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3FD14-D865-47C7-9946-CD14B362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请求级并发控制：简单但只在单进程有效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B23E4-4C90-472B-A2B8-20DD02A1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3DDB9-E7E9-42DF-9ADB-32FC96FC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src/open_deep_research/web/server.py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4868E-29A5-4615-B358-45427ED3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60A46-5813-481F-8A91-BDBD31F0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4476750" cy="2524125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3335">
            <a:solidFill>
              <a:srgbClr val="1E1E1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82A33A-5284-47B8-A9E0-07EF1A23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571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04B7C9-320C-4071-AF0E-3783125C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28775"/>
            <a:ext cx="4114800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_RESEARCH_SEMAPHORE = asyncio.Semaphore(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MAX_CONCURRENT_RESEARCH_REQUESTS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async with _RESEARCH_SEMAPHORE: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async for event in _research_event_stream():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    yield event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FD127B-14F4-4FC3-B981-51E5AA07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76375"/>
            <a:ext cx="952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54CA97-B09D-405F-8FE8-7A26DDED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52400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183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3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73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CURRENT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85EC01-6CEB-4A34-BC2C-15D9294F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859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1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进程内 admission control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9CBAB5-204F-4363-AF1A-688EC6C1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52625"/>
            <a:ext cx="6191250" cy="1143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8DABC6-CD26-47CE-AE08-5039A56C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面试官追问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EAB59B-3429-47BB-A3AD-778372AD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28875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80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如果运行 4 个独立 Python worker / instance，每个配额为 2，全局理论上限是多少？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571C03-B1FD-46E3-AFCE-6396B335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33750"/>
            <a:ext cx="619125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FC8409-14A6-428D-8CCE-88B57957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766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30 秒回答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9B79FE-71B4-4702-A341-3FBC8C9E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1000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约 8 个。Semaphore 是进程内对象，每个 worker 都有自己的 2 个配额。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407A81-6275-49D1-BB92-06B840F0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1047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A27770-554D-42CB-B1CF-DC9E1543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619625"/>
            <a:ext cx="933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183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3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73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PROPOSED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427DF2-09FE-42D7-A4BD-4B41B6EA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91050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9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Redis lease / distributed semaphore，或 durable queue + worker concurrency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703332-9BA4-4595-B287-0ACE8466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86375"/>
            <a:ext cx="11096625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E52862-733E-4038-A137-DEABB15C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71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UPGRADE POINT：从单实例迁到多 worker / 多实例，或需要排队、优先级和重试时，进程内 Semaphore 不再够用。</a:t>
            </a:r>
          </a:p>
        </p:txBody>
      </p:sp>
    </p:spTree>
    <p:extLst>
      <p:ext uri="{BB962C8B-B14F-4D97-AF65-F5344CB8AC3E}">
        <p14:creationId xmlns:p14="http://schemas.microsoft.com/office/powerpoint/2010/main" val="3108880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8B8017-7735-4031-B1F9-75C6628E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03 / CONCURRENCY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FA7F7-150D-4406-9EAB-54FBF4AA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Graph 级并发：角色并行与预算竞争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79470-9D13-4F0D-8D64-26712764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273AF-8AF7-4D0C-B6C3-7553AEB0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deep_researcher.py; state.py; budget.py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DFEC5-2AE0-4103-9ED5-AFC48CAC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ED7422-7E18-44CB-9914-685E3646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CURRENT: non-atomic check-then-act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3B6E3C-F972-462D-80C6-5CA12A79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2000250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E8E9B52-FF12-4AD7-B6E3-148CED4F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8764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budget = 10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D6CA0D1-84B3-4DD6-A010-8E12BC70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002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16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shared state snapshot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D1F6D5-7996-4E62-9203-65DEBC6F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2190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81E1E43-53F6-462D-A5F4-7365C44F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5906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Branch 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460E695-1544-46F4-8C08-7487C0C6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14525"/>
            <a:ext cx="1924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check PASS → spend 7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DEDE958-2E95-4A26-80F7-77FFF7BB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9875"/>
            <a:ext cx="2190750" cy="90487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6B7F1A-0A6F-406B-BE1D-4AE2E7B7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241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Branch B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CD9BB69-6741-4130-BECE-FC7155F6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48025"/>
            <a:ext cx="1924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check PASS → spend 7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3A521D5-6D36-4E76-9577-6E0867F2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22860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36B441A-9DA1-4841-9502-4668F30A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098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runtime_reducer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0B7702E-E299-41DB-A229-5D183A69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3365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merge after work → 14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6521081-1FFE-498E-A05E-09D52092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24125" y="211455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DE1EC5B-94BF-4FDE-AB1F-1298E666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048000" y="19240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A616CCC-DEF7-4471-ADCA-5A4BF0F5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19240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4254FE9-5E9C-4E82-B654-DA83B1C4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48050" y="18859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B0CA07B-CF38-46E2-9B0C-A5DC0DB0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24125" y="211455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BC63F89-BAB4-4534-86CB-0EE30E97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2114550"/>
            <a:ext cx="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6E4823B-1F10-400A-A87C-CCED6CC8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8000" y="325755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228F174-1825-4912-BDEA-004E9349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48050" y="32194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4630C9B-0E9C-4B4C-971F-E05E1ECA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0" y="19240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8B1A28F-0BA2-487C-90D2-47636C9F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0" y="1924050"/>
            <a:ext cx="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7BD24D7-855C-4F66-8745-48B0B618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0" y="2428875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50F58B9-3502-424D-929B-F62868B7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67550" y="23907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0C5224A-46A9-458D-B295-43FD3D94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0" y="32575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12CE1AA-C04C-4F78-B06C-306D401B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477000" y="2714625"/>
            <a:ext cx="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6A857E2-BE92-4B6D-8AE7-778BB29C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0" y="2714625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FFA1AF9-0069-4044-ADB6-D0572258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67550" y="26765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755B449-C064-47CB-84EB-577F0ECE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476375"/>
            <a:ext cx="1952625" cy="2238375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041735B-DCCE-47FD-A620-CDA900AF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6687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01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rPr>
              <a:t>为什么 Reducer 救不了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7E7E3B5-124A-4FD5-8F4E-5E5BE181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161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39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Reducer 发生在分支返回 State Patch 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它解决 merge，不解决执行前互斥。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2A4D1F8-7E61-40D4-A3BE-0C7D725A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91000"/>
            <a:ext cx="1047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20CBAEA-B09E-48B0-8B3D-2F4B2DC2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238625"/>
            <a:ext cx="933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183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3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73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PROPOSED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C932BDE-3E17-496B-A08E-A5B4D653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0"/>
            <a:ext cx="5715000" cy="1285875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3335">
            <a:solidFill>
              <a:srgbClr val="1E1E1E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6858231-6AEE-4988-AF89-6EDE47B8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0"/>
            <a:ext cx="571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F15DEA6-74F3-4D87-ACF9-FAEF82E4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244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1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class BudgetBroker: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1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async def reserve(resource, amount) -&gt; Reservation: ...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1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async def commit(reservation): ...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1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async def release(reservation): ...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381B982-52A0-4852-A91A-576718C7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4953000" cy="1666875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B65E083-1E9D-45E8-B4E9-6508E78C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624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2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rPr>
              <a:t>面试官追问：加锁行不行？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E38D3A6-E0B4-4C09-84FA-DEFE97AC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4429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单进程锁可以缓解，但与 Graph branch 生命周期耦合，多实例仍失效。BudgetBroker 把 reserve / commit / release 变成独立资源协议。</a:t>
            </a:r>
          </a:p>
        </p:txBody>
      </p:sp>
    </p:spTree>
    <p:extLst>
      <p:ext uri="{BB962C8B-B14F-4D97-AF65-F5344CB8AC3E}">
        <p14:creationId xmlns:p14="http://schemas.microsoft.com/office/powerpoint/2010/main" val="13136970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680AFF-A9E2-4B16-902B-9D470036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03 / CONCURRENCY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35A100-48A3-4B81-A234-E8443CBF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Tool 级并发：低延迟与故障放大的交换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D8E04-1498-4939-874A-30B48F58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8B9FE-4D82-4896-B714-EAC245F6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runtime/agent_runtime.py; runtime/business_agent.py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F11D1-0757-4959-9682-09F896D8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FA3219-FD15-4D6C-96C6-0105EC11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FAILURE POINT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6A5661-8136-42C0-A232-4375C11F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2238375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48FB98-D3E7-4067-9627-9019C92A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24050"/>
            <a:ext cx="1971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Tool 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A2B9AA-2304-46E2-96E3-5DF685D3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47900"/>
            <a:ext cx="19716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73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800 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6A6DF7-3DF8-49EF-A1FB-BCF53773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09875"/>
            <a:ext cx="2238375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FCFE43-5137-4CA4-93D7-DBADF9A4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24175"/>
            <a:ext cx="1971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Tool 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4BBC17-779E-411A-8D6E-E2CD53D0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48025"/>
            <a:ext cx="19716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73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1.2 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20978A-ADF6-477C-9E7D-E14D5AD5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10000"/>
            <a:ext cx="2238375" cy="7143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638976-C261-4945-B3BF-C0A7AB3D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924300"/>
            <a:ext cx="1971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Tool 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37FB17-191A-46BC-8572-8810D908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48150"/>
            <a:ext cx="19716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973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30 s / hang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9539E4-5F3C-45C0-BF36-351D5812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4095750" cy="2714625"/>
          </a:xfrm>
          <a:prstGeom xmlns:a="http://schemas.openxmlformats.org/drawingml/2006/main" prst="roundRect">
            <a:avLst>
              <a:gd name="adj" fmla="val 2456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3335">
            <a:solidFill>
              <a:srgbClr val="1E1E1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85DD69-19CF-4DCA-A189-29AB02C4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571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3AEA22-7D97-461F-A8A2-4FF9D170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62150"/>
            <a:ext cx="3733800" cy="2447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53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53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results = await asyncio.gather(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53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53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*[self.execute_tool(...) for call in known]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53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53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53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53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# no return_exceptions=True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53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53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# Runtime has no unified per-tool timeout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2CD245-83D6-4960-B61F-FD401563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81125"/>
            <a:ext cx="3762375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2FCCF8-18EB-4B30-B82A-8495D933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571625"/>
            <a:ext cx="857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199C9D-23BF-4654-B617-5ABC6E78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619250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183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3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73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CURRENT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140A4C-93A5-4EBB-94FE-C5128B73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90675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Safe wrapper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1ED46D-19DF-4F3A-BC72-89E7C765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859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05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Exception → ToolMessage；部分 Tool 内部 timeout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171422-5852-4029-98F1-19AA7919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57425"/>
            <a:ext cx="857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CB73C0-6ED8-47DB-BD3B-F7F2FCB4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305050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183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3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73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PROPOSED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2D8DA9-F209-4210-808F-E21F880E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76475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Timeout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B62F59-37F8-4CB2-AFE4-37722E57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限制单个 Tool 最长时间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973742-F827-4115-8ADC-ED9687DE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43225"/>
            <a:ext cx="857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A4DFEF-47E1-4997-9695-730A5646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990850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183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3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73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PROPOSED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AF6957-B8B2-45D9-B67E-4F62A026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62275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Bulkhead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37320A-3679-40A9-8FF1-D8761AB4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575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web / rag / mcp 使用不同 Semaphore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FDF00B-41DA-4027-912D-24FEBEB7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29025"/>
            <a:ext cx="857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42FABFD-92D6-41EC-8A4C-0CC806F6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676650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183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3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73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PROPOSED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3035866-F1CE-46E7-A73F-7FEF022B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48075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Circuit Breaker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9AE6E23-A77B-431F-B6D2-1E15579E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433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连续失败后暂时停止请求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B24C944-1971-4503-A7CA-E82131B5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00625"/>
            <a:ext cx="11096625" cy="685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390876-4BB1-4C4B-B193-59B3230F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62550"/>
            <a:ext cx="1071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结果：A/B 很快完成，这一轮 ReAct 仍等待 C。建议统一 wait_for、按 domain 隔离资源池，并对连续失败服务熔断。</a:t>
            </a:r>
          </a:p>
        </p:txBody>
      </p:sp>
    </p:spTree>
    <p:extLst>
      <p:ext uri="{BB962C8B-B14F-4D97-AF65-F5344CB8AC3E}">
        <p14:creationId xmlns:p14="http://schemas.microsoft.com/office/powerpoint/2010/main" val="10120984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61E956-824C-4FA2-AFE2-4F14930E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03 / CONCURRENCY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5EBD9-5A02-4900-ABB6-BECAE418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搜索与摘要的双层 fan-out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5191A-5C05-451F-BC95-F8B74339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5143E-0717-4153-A3B7-67A9737E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utils.py:tavily_search; architecture optimization 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1044B-AE61-4F42-98C1-0516A457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534FD6-E0A2-4802-8237-547BB428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180975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074152-8DC8-4A3B-9CAF-62C47211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859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Query Count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FF543F-ED31-43C1-917F-4811C3E4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09775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queries[]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4B8FE1-E5AC-4D04-9B07-2E816B6F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71625"/>
            <a:ext cx="200025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89B177-8B73-4A7F-8E0C-E7DD94A6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6859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Unique URL Count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A58F76-273D-4AE6-ABF8-163A8C73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0977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dedupe inside one call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85771A-7092-4F6F-B627-A4DD8070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571625"/>
            <a:ext cx="200025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6646E3-D48B-4BA6-B8DC-417366ED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6859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Summary LLM Cost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877A5C-667E-4432-952E-5256BF3D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00977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≈ one call / page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E7263A-ACA1-41E8-9512-C962ADD8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71625"/>
            <a:ext cx="200025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6A2F8F-7BA3-47EF-B1A9-9A170921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859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Research Round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B9EB35-4B10-4087-96AC-5895098C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0977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initial + follow-up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B43787-7435-4B75-9ACC-3D618244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33625" y="195262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E29E29B-C8B8-40FF-A1AE-9D4352DB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876550" y="19145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EA582F-6323-4BD6-9902-B10F28A3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0" y="195262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009C47-E407-4C59-A837-A59B77A4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95925" y="19145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FD46BB7-BB98-461E-8ED2-B7BABAB5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72375" y="195262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A145B0C-5EF4-4C26-ACC7-125E4ABE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115300" y="19145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36EBFB1-00AE-476F-BD30-AA2304BF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66687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16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Cost amplification intuition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11E1016-5A17-45CC-ACE2-A7478301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2412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≈  Q × URL × summary × round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DF83CE2-A942-4351-A5B9-77815B5C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52750"/>
            <a:ext cx="5334000" cy="219075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B38D5DD-14DB-4BBF-B588-F3F46477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14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rPr>
              <a:t>跨层重复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777EE3C-6BA6-4D86-AF9E-9157CFB6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4667250" cy="1285875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3335">
            <a:solidFill>
              <a:srgbClr val="1E1E1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74D5243-693E-44D8-BC2E-4F7E6C4F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571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607455D-5547-4789-9F71-3C9440F0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24275"/>
            <a:ext cx="43053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23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23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Agent A / Round 1  → URL X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23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23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Agent B / Round 1  → URL X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23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23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Agent A / Follow-up → URL 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23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23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当前 URL dedupe 只覆盖一次 tavily_search 调用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DB3D902-7D8B-4DD8-A09F-889F1D50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52750"/>
            <a:ext cx="5286375" cy="219075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80CFC62-1BB9-4AEE-8984-88BB2666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14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rPr>
              <a:t>Cache key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1DCF61B-83AE-4860-B401-ADEA2612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normalized_url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+ content_hash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+ summary_prompt_version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0AA77E6-51BF-465D-B875-F19A9B52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148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88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说明：直觉公式不是严格乘法；每轮 URL 数不同，且单次调用会去重。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F8E597A-B3A0-4BA2-AEA2-1A13CF26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668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6E34786-526C-4EC9-9D1B-B31031EC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435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2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Single-case measurement：187 summary calls，≈1,051.8 秒累计模型时间；不是生产平均值。</a:t>
            </a:r>
          </a:p>
        </p:txBody>
      </p:sp>
    </p:spTree>
    <p:extLst>
      <p:ext uri="{BB962C8B-B14F-4D97-AF65-F5344CB8AC3E}">
        <p14:creationId xmlns:p14="http://schemas.microsoft.com/office/powerpoint/2010/main" val="10142647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DFCAC7-9A89-443D-8530-584E4DC0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03 / CONCURRENCY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E4349-1B6C-4EE7-A3B4-F72DBB11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Section Writer fan-out：写作延迟下降，预算需要预留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018D8-680E-40AC-83D2-EB1E81C9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84457-D61B-4C33-9D25-D3833980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deep_researcher.py:_write_sections_parallel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66EDD-5882-469B-A2DE-2D77E28F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020F7-3603-49D3-831F-0A9B7A7A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5334000" cy="2857500"/>
          </a:xfrm>
          <a:prstGeom xmlns:a="http://schemas.openxmlformats.org/drawingml/2006/main" prst="roundRect">
            <a:avLst>
              <a:gd name="adj" fmla="val 2333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3335">
            <a:solidFill>
              <a:srgbClr val="1E1E1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13D5C-444F-4282-9856-EBA8BD91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5DA44-B940-45C7-B2CB-F2D3835E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49720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async def _write_sections_parallel(sections, ...):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async def _write_one(section):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    response, usage = await ainvoke_model_with_budget(...)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    return section, usage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results = await asyncio.gather(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    *[_write_one(section) for section in sections]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043B6-3822-49B1-AF08-744DB37A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76375"/>
            <a:ext cx="19050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3DEB0-090C-4ADB-BA1C-D876EEC0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59067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Section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0888A2-7FB0-4486-A22E-48598E66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14525"/>
            <a:ext cx="1638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232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LLM writer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D8053-7593-45F2-B856-EA172921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24125"/>
            <a:ext cx="19050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BD45C2-6B5F-43A0-B500-40C6FB46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3842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Section 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577216-472C-4602-8148-8E187824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62275"/>
            <a:ext cx="1638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232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LLM writer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0FD306-0F5C-47E0-9AAC-E09C4106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71875"/>
            <a:ext cx="19050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100E7-19E9-487C-8734-4009EEA7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8617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Section 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B1C239-BD08-4009-AE61-5701ACD8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10025"/>
            <a:ext cx="1638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232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LLM writer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DFB7D9-EEFA-4D24-8D69-73650CE0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81750" y="1819275"/>
            <a:ext cx="0" cy="2095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97762D-D427-45F7-B17C-AD86064B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0" y="30003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0BB65D-004D-4389-BDB9-97BEC92B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305550" y="29622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D14361-2471-4619-8FE4-679A8141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81750" y="18192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2A55D8-4A76-4960-908A-5E83C852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781800" y="17811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2DE0C2-93E0-405D-B0FD-1642996C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81750" y="286702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C3208D-51B3-4455-98E4-5485A291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781800" y="28289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E24DF6-5CBA-40A5-866E-319B38E9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81750" y="39147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434FA1-7E8F-475F-BCFA-0111FD29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781800" y="38766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DB6D11-3079-420B-BD9F-B1033389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71625"/>
            <a:ext cx="2381250" cy="25717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94587B-4CF3-472A-9B53-7CE5A4FF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621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15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4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设计取舍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20D30A-063B-40AC-A0F2-A1B3A7D1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38375"/>
            <a:ext cx="1857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章节彼此独立，可并行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并行前先 reservation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失败章节有 fallback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尾部由最慢调用决定</a:t>
            </a:r>
          </a:p>
        </p:txBody>
      </p:sp>
    </p:spTree>
    <p:extLst>
      <p:ext uri="{BB962C8B-B14F-4D97-AF65-F5344CB8AC3E}">
        <p14:creationId xmlns:p14="http://schemas.microsoft.com/office/powerpoint/2010/main" val="16154160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37BA2F-6A3B-4590-B83D-D8E1D873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03 / CONCURRENCY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996BB-280E-4FBC-B2A5-0B922247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线程池与后台线程：避免阻塞，但不等于可恢复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DA78E-3F15-4ED2-975F-16C92026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BCF57-F12D-4D60-A7C1-65E07E86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deep_researcher.py; tools/rag_tool.py; memory/writer.py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68194-1BC2-4E6F-80D4-1CC2AC59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8F9F6-17F2-49DE-A5F8-9A696F9D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Mechanism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4359C-E0D7-42E9-976D-D0A4A4C8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763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8740C-E025-46C4-AF56-D05A596A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763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46C4D-769E-4572-B3FD-2DABE7C3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763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Lifetime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1A2778-E60E-4A7C-8BB4-47FD99D9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4590F-932A-4EBC-87AD-D10542A0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asyncio.to_thread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20696-6726-41F1-868A-3EDB627A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05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enrich_query_images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0AEA73-BB9C-4B43-9DD0-1873847A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050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OCR / vision sync 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088F4C-8F2F-4F3F-9473-1C716E71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05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default thread pool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A8053C-433F-46A2-868B-E6BC6494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23812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178E8D-8091-4E64-A335-BB8B567E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asyncio.to_thread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DC167-5F8A-4ABB-975C-32C326A4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86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rag_search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D6A190-E726-4A70-89D4-67F1F0AD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860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query rewrite + RAGPipeline.query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6BADBA-57BC-4918-AF81-71AB13CE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default thread pool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E4A3D2-DBC3-4215-86E9-6396AF3D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31623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631C19-1C68-4787-84EC-9DF97723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CA4E2E-5306-40EF-AB68-E83B993F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671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asyncio.to_thread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E8E8B9-6333-441F-AF91-F8235762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67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maybe_persist_chat_memory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19BC51-A954-402B-B501-D607DE09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671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MySQL write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7BF3FA-E675-4058-94EB-17882908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67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default thread pool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79675F-9209-494D-A455-22EB434D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39433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304061-8FC6-4D31-B1F9-C327168D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daemon Thread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9E578F-CC86-47DA-B86D-5E4424B7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48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trigger_memory_index_refresh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E46638-253F-497F-B4DD-734A1718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481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pending memory indexing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F2C732-61EF-4F08-886E-861AE872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48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process lifetime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844DB9-79F3-44C8-826A-BB7BDBDC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47244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580DD6-BDEE-407B-BC60-6C8CDA22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61912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1C50A4-298F-4A7F-BA9F-EE8AF139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风险：默认线程池在多请求下可能饱和；daemon thread 在进程退出时不保证完成。升级为专用 executor 或 durable worker。</a:t>
            </a:r>
          </a:p>
        </p:txBody>
      </p:sp>
    </p:spTree>
    <p:extLst>
      <p:ext uri="{BB962C8B-B14F-4D97-AF65-F5344CB8AC3E}">
        <p14:creationId xmlns:p14="http://schemas.microsoft.com/office/powerpoint/2010/main" val="16159350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D43D548-E16E-4311-893D-DE0B166D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04 /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F4C84-3376-4939-BC03-88407702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风险热力图与当前状态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A904B-C02C-45B3-B090-C0408954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04B99-F5E5-4935-8146-2386DA0D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risk-register.md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DF8FF-79DE-4EB1-8089-4EF7480D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89D87DB-98F9-48A1-999D-5677A40B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3381375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C5F581-DB0D-4BE8-A012-093F8523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192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89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Summary fan-out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E7415CF-3010-4867-AF9D-7A900079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00200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6C57904-A8D3-4E32-814B-556C0369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4782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183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35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735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P0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29E7D85-6DC0-418F-845C-77DBE33A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81200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OPEN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56DC80E-59F4-4AD8-BF51-939A7F2B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5742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86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cost / latency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71FE370-48CD-4889-8776-777ED5DA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76375"/>
            <a:ext cx="3381375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E97C29-C457-4C44-9E71-424FE9CB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192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89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Budget overshoot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248096F-EAAB-4882-96FC-ED47BDD2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00200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5B76E0F-D892-4417-9E77-D053D9E2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64782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183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35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735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P0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6DC5D84-9500-4241-8E03-E5AC432C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81200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PARTIALLY MITIGATED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C2849BF-CF22-4CF4-A2E4-434AEBEF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5742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86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guards exist; no reserve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C9A0C37-80BF-48DE-9F9D-E0584A90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476375"/>
            <a:ext cx="3381375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5B61A28-3720-48E8-8130-6E578D1C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6192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89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Follow-up granularity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945D577-0788-4522-952E-2459AA3B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600200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60692A3-36EA-4FFA-836B-854B5CD8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64782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183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35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735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P0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BC4A2F5-7F8C-42F3-80BF-FEC608E3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981200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PARTIALLY MITIGATED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0CE30C9-313C-4E87-8658-5A8E26BB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25742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86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round limit + dedupe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97B4888-7120-4B14-9C53-E7DBCBB8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3381375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95F145E-FB62-41BB-9F1B-213F7AE1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003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89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Tool failure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19A9319-4572-4761-8288-E5EACBD1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221F122-E541-418A-85EB-26610A6A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2895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183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3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73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P1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4504D99-FB05-48E6-8263-22E9732E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62325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PARTIALLY MITIGATED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18BA3BE-17FE-4796-B2FC-6B8250DF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38550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86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safe wrapper; no bulkhead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6CAE097-4605-45D6-ABF9-597567BE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3381375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EC66B6B-04F8-4CB1-AE9A-1C67FF1D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03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89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Request concurrency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80CFBED-B5A8-446D-AA07-FACF8C21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813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30BEC05-DC69-4822-B77D-1269523C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02895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183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3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73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P1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2CEB79B-C76F-4B30-9F26-3E1EE124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62325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ACCEPTED CURRENT SCALE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C968AA0-4F9A-449D-9A46-88AF0A6F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38550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86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process-local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76A3096-7582-443B-B9FC-38BB496F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857500"/>
            <a:ext cx="3381375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1B9CC7F-34BE-4D80-ACEF-7A7D55E8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003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89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No Checkpointer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B384035-0A59-43A8-B061-57CDB615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981325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760BB9C-ACD8-4CB0-AB5E-C9336F6D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02895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183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3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73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P1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6B7EAE7-8DBD-4DC4-B265-2784CBBB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362325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ACCEPTED CURRENT DEPLOYMENT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690493E-C722-4E66-80BB-0FD99381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638550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86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rerun on failure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F1F64BF-3003-47B4-94FF-3C74E530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38625"/>
            <a:ext cx="3381375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51CD2B8-7414-41A6-8B5C-22B7F4D7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815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89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Memory index thread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D44B098-D220-4491-94F5-4A4A68F5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62450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E4176C2-E7E2-4214-95D5-4828E487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1007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183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3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73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P1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35D8AD3-5C51-4A68-8839-4546B858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43450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PARTIALLY MITIGATED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701BD20-C759-4370-90A0-7731A7A2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1967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86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query-time fallback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7AAC9B8-FD82-483A-ACD3-B3C5022D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38625"/>
            <a:ext cx="3381375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48286CA-B635-4E8F-8990-90A618C2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815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89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MCP discovery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212BF75-2A95-446F-91D6-216AB17B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362450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C875A2E-D421-4BED-B84F-7585695D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41007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183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3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73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P1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F5B31A9-F031-4078-96FC-2FC5253A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43450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PARTIALLY MITIGATED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4D039E7-5357-4BE2-89BF-A2A3A2A7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1967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86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failure isolation only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C73B402-0340-4422-B761-955EDCF5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38625"/>
            <a:ext cx="3381375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3592FFD-C113-4080-9F90-4F54BB56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3815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89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DBHub DSN argv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1499B67-2516-405C-8D29-88998365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362450"/>
            <a:ext cx="666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A3BE24D-2A16-4C8D-9BDE-78AA6850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41007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183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3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73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P2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003874B-B0B6-49A3-A586-E837C467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743450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OPEN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0D12508-12AF-4ACB-B95A-B6B267B8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01967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86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local secret exposure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9CF9CC1-0E25-4C6C-89B7-B13F7A6E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1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状态说明：ACCEPTED 表示当前规模下有意识接受，不代表问题不存在；PROPOSED FIX 尚未上线。</a:t>
            </a:r>
          </a:p>
        </p:txBody>
      </p:sp>
    </p:spTree>
    <p:extLst>
      <p:ext uri="{BB962C8B-B14F-4D97-AF65-F5344CB8AC3E}">
        <p14:creationId xmlns:p14="http://schemas.microsoft.com/office/powerpoint/2010/main" val="17058152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9EB8C20-DB79-4FA7-B8F7-44DB5DB3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04 /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91EC4-2058-4BA8-8BF4-FB3F28B7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高风险代码片段清单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8BD20-419F-4D14-A9CB-B420C217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31833-2B34-4580-A1DC-3F7D71B8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risk-register.md; current 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3A347-F244-4965-8DE2-096775C1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8B954E-BCEF-4C77-8A0C-9CF7D3F4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Pri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C89A2E1-1D11-481D-866E-1934F967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3811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Status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3FA60E3-D78B-4F33-BDD5-1B2F0506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381125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Source symbol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8D97252-2B24-425B-9CFC-85E675A7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Mechanism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F0D2E5F-D863-4DAA-91AB-892F91C2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811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Impact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29C2F6B-3E48-41CF-B5C1-BD0EAF5A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47825"/>
            <a:ext cx="11191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2F36171-F5C1-479A-893C-F76AA78F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P0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2B421FF-FC50-4A48-A4E8-0A9D6279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145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54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OPEN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178CAD0-B727-422D-BD88-33A31A67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145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10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utils.py → tavily_search()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59C3A32-4E85-4A3D-BE2E-DDF067A2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per-page summary fan-out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37CDB30-B550-4FD1-9A93-CB70EC6D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cost explosion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509B098-94F6-4471-BFD4-E81F5885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P0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5759C0E-3AF6-4EBF-99D6-B1848088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907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54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PARTIAL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A3780F1-DD3A-4115-9472-C9DD2585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907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10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deep_researcher.py → route_after_research_review()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B81FB3C-1A65-436E-8577-1286F0A6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full AgentRuntime follow-up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8F7C892-8B7F-4731-BFFB-F3224DA5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90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token / latency tail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8349F9A-52D6-442F-A2A0-74F54318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600325"/>
            <a:ext cx="11191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4B71891-E871-4A80-899E-CD5183B7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P0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8C01FF0-2FC0-4491-9B17-BE7225F1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67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54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PARTIAL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9E19F6D-4D5B-4523-B8E6-4D1A3728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10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budget.py → can_spend_model_call()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728A3B7-CFE6-446E-B79B-318F0620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branch-local check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E34BCD1-EE77-4820-99B9-257B96CA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67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global overshoot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26F0254-474C-4396-A34B-301C55ED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P1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C7CC47A-677E-4E51-A626-AA8BCC7D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432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54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PARTIAL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CDF8759-224E-4C7D-91AA-8F832B9A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432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10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AgentRuntime.run()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DDBDF4E-3C45-46B8-82E8-53035BBC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tool asyncio.gather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6F095A0-338C-4AF3-9577-EB572438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43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slow tool blocks round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9C5B732-A31B-4275-8962-F08F4929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552825"/>
            <a:ext cx="11191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08758CE-1A8D-4A0F-9935-62EBBECE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P1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F568FF8-6CF1-4D8D-8079-4C5CEA3F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195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54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ACCEPTED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3410972-450B-4FEF-B9C1-31CAEC8D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10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web/server.py → _RESEARCH_SEMAPHORE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38C0598-38EA-42B9-831A-60914E1B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process-local limit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5A97A36-0968-489A-93FA-872634E9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19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multi-instance gap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647E3BA-5650-4E9A-BED7-66B3814E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P1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604B37C-3547-4EE0-A4C8-810DA80B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957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54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ACCEPTED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C7743C9-8EC9-4FED-B9DE-FF9671CA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957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10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deep_researcher.py → deep_researcher()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FB635BA-7900-4A50-B2D7-17593050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no checkpointer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55F6D8B-3AA9-4907-A081-4428EC03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95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no crash resume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A422FDA-927C-45B0-BFD3-CEA12C3E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505325"/>
            <a:ext cx="11191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6A96B17-6C92-4BE6-BDA8-9A89DADF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P1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42E6771-71B6-4773-B88A-97E9D3C5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72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54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PARTIAL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772A964-F4EF-4182-B621-24401DF5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720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10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memory/writer.py → trigger_memory_index_refresh()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533AF53-AABB-461B-AE9F-B985AE6D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daemon Thread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35BF45A-4ED6-4305-9EF3-2E8DEBB8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72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lost background work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3D2826A-5926-455F-BA22-D2E915F6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48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P1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D7F8D69-7498-427D-BB67-53E83070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482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54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PARTIAL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5413C71-64E5-4C11-B2B7-5642AE0A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482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10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mcp/tools.py → load_mcp_tools()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03799A4-D316-453D-9BB0-262B7C02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48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sequential rediscovery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A6FF632-35E4-41D6-868D-E2A78D3A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48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latency / churn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2B50D74-E251-4040-86B8-A488C3DF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457825"/>
            <a:ext cx="11191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2902BF2-3694-47F7-8243-2827CC92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P1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6589A94-3B27-4C4D-8FCD-794586F0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245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54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PARTIAL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54BF728-C7B7-477D-88FF-7CDBA789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245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810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business_agent.py → _execute_tool_safely()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6FA296E-8628-4D38-9E5A-773C8724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24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raw exception text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27DC5D8-D8C0-47FE-869C-E45BAA84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524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detail leakage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3C7335A-B7F0-45A9-B75A-3839674B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完整触发条件、当前保护与修复建议：docs/interview-architecture/risk-register.md</a:t>
            </a:r>
          </a:p>
        </p:txBody>
      </p:sp>
    </p:spTree>
    <p:extLst>
      <p:ext uri="{BB962C8B-B14F-4D97-AF65-F5344CB8AC3E}">
        <p14:creationId xmlns:p14="http://schemas.microsoft.com/office/powerpoint/2010/main" val="112586996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E0051B-ABF6-44E9-900F-815A610B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05 / DEEP DIVE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45FD8-5AC7-4166-973D-848DE41E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性能优化 Case：网页摘要 Fan-out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97E1C-0875-4DD8-811A-3191FF6E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A84A2-CCB5-4977-A184-8F64C5F7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utils.py; ARCHITECTURE_OPTIMIZATION_LOG_CN.md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A5E19-6CA8-48E0-9277-E8F8450C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8200C0-97BD-4AC2-A732-6A62E006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CF84FC-7519-4623-AEC4-15B23E49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525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1 SYMPTOM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940511-3CB1-4F7F-AFDC-A30B3061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2405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2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2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成本与延迟异常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07F91E-F99F-44BD-8468-5EB7C78C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28750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504336-ABC7-430E-BF0D-BF2AB6D7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525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2 MEASUREMENT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393109-3F2C-46F1-AC6C-E7712043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2405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2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2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187 calls / ≈1,051.8 sec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2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2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Fixed evaluation case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D7FB0B-FD08-4D5C-8922-D638332B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8B4401-DA57-458C-913B-A1E83744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525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3 ROOT CAUSE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93E961-96C3-46A4-845B-5D05BAA7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2405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2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2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一个 raw page ≈ 一个 summary model call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53414B-400D-4722-903E-458B393F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428750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871F96-3302-49FB-AAD3-F81A3C65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525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4 WHY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CDD05F-6F8C-47F2-8301-4B76CC02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2405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2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2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URL 多 + follow-up + 跨 Agent 重复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CCE14A-F60C-4E2E-9D54-524F1983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190875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AEB9F3-B81F-4586-9E7E-5CC8F280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147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5 OPTIONS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28A4EF6-A01A-49FF-9B9C-807660D2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86175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2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2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Cache / Filter / Bound / Batch / Worker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7DCB64-0760-4351-8397-1F6D3814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190875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F96228-5AD0-46B6-A436-1970120D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147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6 CHOSEN PRIORITY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0799490-5ED5-4D48-941F-DBF27B29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86175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2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2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先消除重复，再限制最坏情况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068BB12-0CF8-4BFB-9663-8F3928BF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B69C9E1-5556-4FC8-B934-711B5C55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147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7 EXPECTED RESULT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5E6DBB-BC5A-4DAE-8E18-7B0F7094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86175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2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2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更少 model calls、tokens 与 tail latency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01C655B-4E35-4D5F-BDFF-77A5508C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90875"/>
            <a:ext cx="25717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F8647B1-8FF3-49BA-B6D0-67588278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147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8 VERIFY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A3407CA-C598-411F-A8D7-0E56D6A3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86175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2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2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固定 Case 比较 quality / calls / tokens / time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1109A78-29EA-4BF5-A536-B0714097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1049000" cy="685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26EC94B-9F91-4AB6-8EDE-AF82019D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面试表达：我不会第一反应换便宜模型，因为重复工作没有消失。先减少不必要调用，再讨论单次调用价格。</a:t>
            </a:r>
          </a:p>
        </p:txBody>
      </p:sp>
    </p:spTree>
    <p:extLst>
      <p:ext uri="{BB962C8B-B14F-4D97-AF65-F5344CB8AC3E}">
        <p14:creationId xmlns:p14="http://schemas.microsoft.com/office/powerpoint/2010/main" val="7162999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7D8C3B-C7B8-4375-AC66-015AF83D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05 / DEEP DIVE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65F50-DB79-4297-96B5-66244F60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Deep Dive：Follow-up 提升质量，也放大成本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05253-295B-408B-B559-87ED4360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0894D-4CF4-49A2-B7E7-35A1DF2A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deep_researcher.py; architecture optimization 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1000C-2C5A-4F98-B3A2-FE6660D0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E563A6-F162-43BA-BAAA-EB5673D7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4953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F8854A-0F7A-4466-B37F-6ED15732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53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业务价值：为什么不是坏设计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F1B7CE-40E1-42A8-8353-9048AA25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80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一次性 Research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AFA72A-B1BE-4487-81E5-A1116172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145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3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不能保证关键 Evidence Gap 被覆盖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15502D-D535-4423-BF5F-5BA25C70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80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Research Review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534C04-3BD1-4423-BF56-0A77C60A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7336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7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把“感觉不足”变成 structured gap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F37140-5315-443D-8EEE-FF18FA2F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80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Targeted Send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A78FB8-BCA7-4EBF-BA7C-FA7CC691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3528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只唤醒缺失角色，保留可审计路由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E5B25B-8899-4E7C-8896-90DE8263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28750"/>
            <a:ext cx="5667375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DA3DC2-98D6-4EC3-A3DE-ED540554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53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rPr>
              <a:t>当前问题与演进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82DAA4-538F-42E9-99D3-B2A4245E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1428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862800-5B5A-40FA-B3E9-AF2FD1A4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050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Gap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4796F8-1653-4DB7-A10A-AAE957B0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28900"/>
            <a:ext cx="1162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91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ResearchTask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E2ECE4-0D15-46AB-8AB3-258D3192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1524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543A83-E61D-49B2-948F-7CF5D162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050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58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full AgentRuntime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6534E1C-D31F-463F-9480-9C435019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28900"/>
            <a:ext cx="1257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492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possible broad ReAct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794AB64-B719-4D21-BFF1-DE306477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90750"/>
            <a:ext cx="1238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B68478A-F78B-4B62-AA6B-0F2B4CF0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30505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high cost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5B5BC26-C912-490F-B851-B8FC416D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28900"/>
            <a:ext cx="971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291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tail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ECC1CE-6D75-480F-AA0A-AA416FC2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15250" y="252412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988B498-FBBE-4393-8876-F1542035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115300" y="24860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BA3C87D-50AF-4C4E-BCEB-C9573D3B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15500" y="25241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552A1D4-53C3-46F9-BDBA-D8C670CC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020300" y="24860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BA67DB6-7D5F-451D-95AE-6C21F11A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952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ED2F292-E5A6-47CF-B762-087DF79A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3375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183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3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73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PROPOSED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D61DD6B-4DD0-49EE-85CB-646E0FE4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8612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38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Gap Worker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413934A-826C-4099-A1D4-EBE5B3F1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67125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Input: evidence gap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Output: evidence delta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不生成整份 role report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47FCB65-9AB9-463F-918D-D4DDE81F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0572750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24730F2-AA04-4E91-B04F-57677AF6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9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Q：为什么不直接取消 Follow-up？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F200E6C-5378-4FC7-8C68-475C2BA4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05425"/>
            <a:ext cx="695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A：它解决研究完整性，不是纯性能功能。正确方向是降低补查粒度，而不是删掉质量机制。</a:t>
            </a:r>
          </a:p>
        </p:txBody>
      </p:sp>
    </p:spTree>
    <p:extLst>
      <p:ext uri="{BB962C8B-B14F-4D97-AF65-F5344CB8AC3E}">
        <p14:creationId xmlns:p14="http://schemas.microsoft.com/office/powerpoint/2010/main" val="11765501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3CDADF-9D15-4E95-8522-73E4E68C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05 / DEEP DIVE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B054D-DEB8-4231-B633-83539635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Deep Dive：Context 增长、三层优化与 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02D55-B2A7-443C-8A28-B1F3975E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738FB-16E5-4B10-9133-1651C3E0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AgentRuntime._compact_history; cost 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F2F68-3B76-4DB8-BA78-158A82C1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9AA18B-5360-4DE6-8214-2ACCF952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32385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CE54CB-AE44-49CF-B357-AB1327E9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002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MODEL INPUT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1532AA-370E-4E21-BE36-AA358F0E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86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23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23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System Prompt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1670D1-C513-42EB-8611-6C6EBCD1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907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86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23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23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Task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F715EB-AB6C-40C7-AF5B-F7AF90E5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86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23" b="0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23" b="0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Role Memory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DC90D3-2BF7-48D4-90C8-E9E3AA6B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86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23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923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Previous AI Messages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1CFB04-61AC-4218-A523-5B98CB37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194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86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23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923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Tool Results / Webpage Content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894F8A-FE38-481B-AB15-3F311635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86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23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923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Working Context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FE9677-055A-424B-AA5E-4107A66C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52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86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23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923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Role Report / Citations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94B27D-3460-4D4C-AA26-898258CF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386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Major growth sources observed from source flow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AEFC88-58C3-4FF5-8B90-C3EF1717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476375"/>
            <a:ext cx="3905250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16C14F-2BD3-4934-AB6C-E9F592B4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0020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L1 RAW REDUCTION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A1CDCD-8A07-469E-AE42-1E5D7B75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85950"/>
            <a:ext cx="352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04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web content → micro compact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1BEA07-75B2-4603-879C-09A6C714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3905250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E0A69A-4C17-4D97-8555-EAD58E6E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003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L2 CONVERSATION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5A2D4D-6E0F-4957-AECF-B61E8A45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86075"/>
            <a:ext cx="352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04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AI/Tool history → rolling summary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6452A5-CA29-4531-8D38-47F7103F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76625"/>
            <a:ext cx="3905250" cy="78105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16A660-B29C-4836-8699-5E437912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004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L3 SEMANTIC CONTEXT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7C6850-5678-4007-B36C-CB91C876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86200"/>
            <a:ext cx="352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04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Research Graph → role-relevant evidence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C32EC2-C1FC-4762-8167-6D23082A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3048000" cy="3143250"/>
          </a:xfrm>
          <a:prstGeom xmlns:a="http://schemas.openxmlformats.org/drawingml/2006/main" prst="roundRect">
            <a:avLst>
              <a:gd name="adj" fmla="val 1875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206AA1-D8B9-4986-BC1D-36C5C674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192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COMPRESSION ROI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F88360A-A5E7-4149-9154-9DA9D05F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431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compression call   20k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200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downstream saved     5k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B4BB9A-C6F1-4956-A42E-0CA4EB33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003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99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rPr>
              <a:t>净效果为负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5D06195-593E-4620-B058-39EAB9EC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19500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81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应记录：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compression_cost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downstream_tokens_saved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quality delta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8DB56A-7D88-4713-9A77-44B41DE1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11049000" cy="8096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8F2CE50-B347-4DE2-9022-F44FCD8A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66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Single-case measurement：Round 2 input ≈8,170 → ≈96,307 tokens；6 次 compression ≈298,064 known tokens。不是生产均值。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F36485D-3078-42D3-85DF-9E12C7A3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23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rPr>
              <a:t>面试表达：Compression 是有成本的投资，必须用后续节省 Token 和质量变化验证 ROI。</a:t>
            </a:r>
          </a:p>
        </p:txBody>
      </p:sp>
    </p:spTree>
    <p:extLst>
      <p:ext uri="{BB962C8B-B14F-4D97-AF65-F5344CB8AC3E}">
        <p14:creationId xmlns:p14="http://schemas.microsoft.com/office/powerpoint/2010/main" val="5518831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860A6B3-629B-4857-94D7-F881CCE7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05 / DEEP DIVE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771CE-7E83-47A3-8FF6-C5C90D4C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Deep Dive：Check-then-act 预算竞争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AB6AE-7689-4C9C-B87F-FD4C1D6C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15CEC-AA9E-4679-84C2-03CFCB7B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public_opinion subgraph; budget.py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4F18B-8860-4AD1-BBD0-1EB34E5A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19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0B9CB5A-DC94-4753-90BD-8B95556C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4524375" cy="3143250"/>
          </a:xfrm>
          <a:prstGeom xmlns:a="http://schemas.openxmlformats.org/drawingml/2006/main" prst="roundRect">
            <a:avLst>
              <a:gd name="adj" fmla="val 2121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3335">
            <a:solidFill>
              <a:srgbClr val="1E1E1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15FB8B1-6A94-4E06-BC07-F0ADBC31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770114C-5A77-477E-8FC1-C0689C58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81150"/>
            <a:ext cx="4162425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CURRENT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50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A: check budget = 10  → PASS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50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B: check budget = 10  → PASS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50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A spends 7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50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B spends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50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Reducer merges after work → total 14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82721DE-9D98-4755-8ECC-0C32B4EF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428750"/>
            <a:ext cx="6143625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E1B37ED-D33B-4FD0-A735-3EF95F0D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19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14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rPr>
              <a:t>并发知识点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C95E99C-D322-42B9-9461-59C998B3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95500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non-atomic check + mutate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FD98B5B-7F83-4E33-9E56-8104ED66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670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Reducer 只负责完成后的 State merge。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资源互斥必须发生在执行前。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05B5AD7-0C40-4E8B-859E-F2B876E3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67125"/>
            <a:ext cx="857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E93028D-3C2D-46D9-8A60-4714AFA6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714750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183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3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73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CURRENT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112EB59-5B6D-4EA6-8842-2C543A40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95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7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budget guards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7B8C551-AC13-4B86-9334-DB1A7A6F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67125"/>
            <a:ext cx="952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A36B1FE-D5A8-4961-ADFD-905F8FA3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14750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183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3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73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PROPOSED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F5F59C2-AF67-43BF-81F6-3C1F51AC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957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7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BudgetBroker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9F9D4C7-F14F-4E8D-ABDB-4AF66925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00625"/>
            <a:ext cx="7143750" cy="9525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13335">
            <a:solidFill>
              <a:srgbClr val="1E1E1E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75BCD2A-1EF0-4443-A30D-E0ADDA9E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0062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19BECF2-4AB3-41B9-8E6F-C04A321B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53025"/>
            <a:ext cx="678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1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class BudgetBroker: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1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async def reserve(resource, amount) -&gt; Reservation: ...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1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async def commit(reservation): ...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915" b="0">
                <a:solidFill>
                  <a:srgbClr val="E8EAEC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8EAEC"/>
                </a:solidFill>
                <a:latin typeface="Consolas"/>
                <a:ea typeface="Consolas"/>
                <a:cs typeface="Consolas"/>
              </a:rPr>
              <a:t>    async def release(reservation): ...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F2E22D5-AE13-40E0-B148-E1C3135B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00625"/>
            <a:ext cx="352425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FDDBA41-1682-4B1A-9481-58DF1BD9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911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单进程锁只能缓解；多实例仍需共享 BudgetBroker 后端。</a:t>
            </a:r>
          </a:p>
        </p:txBody>
      </p:sp>
    </p:spTree>
    <p:extLst>
      <p:ext uri="{BB962C8B-B14F-4D97-AF65-F5344CB8AC3E}">
        <p14:creationId xmlns:p14="http://schemas.microsoft.com/office/powerpoint/2010/main" val="2284070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FBE1D3-E7F6-4610-99A8-1EF1D016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06 /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797DDB-818C-4C7A-879B-8F4F5F10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可靠性边界：当前为什么接受，何时必须升级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FE738-F3C4-46F0-9AAE-12D401E6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0571F-89F8-42C4-AE9E-F047A62F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risk-register.md; current 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DB40E-4BCE-452D-995A-E515C4CF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21F5C4-08C1-44EB-A275-1A132B26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Boundary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34933A-600A-420C-898D-7E1BB6EE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3811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Status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069A04-D515-437C-8728-6546AA7F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81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Why acceptable now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D8956B-E559-4C38-A414-4FFCD6AE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811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Upgrade trigger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FB04D1-03B4-49FA-BA79-A54574E4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85925"/>
            <a:ext cx="11191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8E2C1D-CD35-41F3-8868-87524788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No production checkpointer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750F9B-B9DA-48E2-B867-A136192A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7621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ACCEPTED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AF059A-009F-4B8F-94A3-B66D6290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62125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1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当前部署规模有限；失败可重跑；尚无严格 resume SLA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A738D2-E403-4CD1-B6D6-1DA44A2A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1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任务更长 / 单次成本高 / 用户不能重跑 / durable jobs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1FA501-B4FF-49F9-8357-46BFFFF3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23526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5AB0E9-5F29-43E6-AD9F-DCC6E636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003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Process-local Semaphore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70DE31-1DF6-4540-B16F-B0535ED4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003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ACCEPTED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462971-9852-4F62-A6BD-265CCFDD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0325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1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单实例简单，直接限制昂贵任务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9EDDCC-F12F-4C32-8EE5-D9296478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03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1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多 worker / 多实例 / 需要全局排队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9CBCD9-5E98-40B2-AA57-A0A2AD3B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31908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F74B7EA-B489-4CDC-942B-DCB0B949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362325"/>
            <a:ext cx="11191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38E0396-2D5D-4903-873D-49A63540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385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Daemon memory index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F88157-CC7F-4288-BBB7-157BE67C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385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PARTIAL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1223694-AD26-4917-89B2-54C63498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38525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1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query-time ensure_ready 可兜底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E6603E2-B812-458C-9115-61C6A372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385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1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索引 freshness SLA / 滚动部署 / 不能丢任务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7C81579-FE14-4173-B02A-5CA57368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40290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0839E24-5A8B-4E50-B4C8-573A4EC1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767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Raw Tool Error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9029C1B-3EEE-472B-88A1-E78D3723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2767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PARTIAL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40DF230-C95B-4A8C-87AB-393B8A04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76725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1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异常被 safe wrapper 转成 ToolMessage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7B7F84-265C-4BE0-B66E-11474849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767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1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敏感数据 / 外部租户 / 合规要求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6F3A960-B933-46F2-AC8D-16D49068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48672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3E40685-FEAC-45C1-A502-381402D7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038725"/>
            <a:ext cx="11191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0DA7873-1491-4F68-839B-65568C2F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149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DBHub DSN argv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56EF413-D7C6-4C8F-8647-F0EEFB30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1149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OPEN P2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423591A-58CB-4673-A8FA-211EBAC0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14925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1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read-only 限制数据库影响，但不解决 secret exposure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D890C3A-88E4-4AA0-A92A-12751509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149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1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生产启用 DBHub / 多租户主机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02BAD33-35A0-4A7A-B4EB-5B5B35D2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57054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1730692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96D3E5-2077-4D41-A5B7-B17ED7BE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06 /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F2581-7DED-4AE4-8D13-9A85FBFD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ADR：编排选择与部署架构是两个维度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9A7AC-B37E-4C12-9B1C-83B92C3D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3F95C-EB28-41EC-BF57-5129364F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architecture-decisions.md ADR-001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03C9D-0B4F-474A-9CA4-11339E79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21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351B1F-AF9F-4533-8A3A-8C98B983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1435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9DFCB5-BBC7-4A81-9962-F9FFCC9E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ORCHESTRATION CHOICE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2F23BE-FEAF-4BA6-A9F6-CF2A872C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49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LangGraph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582F14-0BA7-4DCA-B2AD-0DA1E369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State 与 reducer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fan-out / merge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Review 与 conditional Send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显式 routing 与 trace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E57AC4-CF02-48A1-AA26-2D19AEFA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428750"/>
            <a:ext cx="5476875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255E16-CE23-4A95-BF04-9C718E5C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DEPLOYMENT ARCHITECTURE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CC81C8-3E33-40DD-804C-E9A7D463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49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Modular Monolith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76304F-96A3-42B7-BEFF-D3A672D6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19375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单一部署边界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模块边界和本地调试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低网络与运维复杂度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• 为热点拆分保留接口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5F105A-33A1-49E0-9EFB-A300BCC6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19625"/>
            <a:ext cx="11096625" cy="12382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05DB80-8EE6-4B3E-BEB0-F9ABD92C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68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Supervisor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72C0B1-FDE5-48E4-8AC1-1FE37F49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1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需要更可预测的角色迁移与预算路径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A21807-5FDE-48C9-AE32-7DAC5E7E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101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68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Microservices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2A6F28-2476-4B65-8FEB-1E8B12D2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1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当前 bottleneck 是 LLM / web / context，拆服务不直接降成本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5924DA-76D0-4C5B-9AF1-4BD43198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101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68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38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38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AgentExecutor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C27917-D606-45FF-93CA-CBDE9C0C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3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1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业务天然有 fan-out、review、follow-up、merge 和串行 risk stage</a:t>
            </a:r>
          </a:p>
        </p:txBody>
      </p:sp>
    </p:spTree>
    <p:extLst>
      <p:ext uri="{BB962C8B-B14F-4D97-AF65-F5344CB8AC3E}">
        <p14:creationId xmlns:p14="http://schemas.microsoft.com/office/powerpoint/2010/main" val="35383910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916F8E-4196-4324-8891-E0F90483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06 /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DF30B-138C-4678-9139-C1546EB8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When Microservices Become Rational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C79F2-CE36-4738-B706-55EF297C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61CD1-6E1A-4919-90E9-D84E3AB5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architecture-decisions.md; architecture patterns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73C9F-99AC-41C8-A9DD-DF9308E9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22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3F60C0-A53C-4C30-8769-D6E64C1E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714500"/>
            <a:ext cx="2047875" cy="247650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A193B0-BC38-4A39-B031-5A79FDF8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857375"/>
            <a:ext cx="1781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1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RESOURCE ISOLATION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101B0E-F80B-452C-9287-D1F9F48A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24125"/>
            <a:ext cx="17049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RAG CPU / memory 与 Agent orchestration 资源曲线分离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86C82C-A440-47A9-B13F-2AF5B79D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714500"/>
            <a:ext cx="2047875" cy="247650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BA46F4-3222-4319-BC63-9F5ABF16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857375"/>
            <a:ext cx="1781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10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SCALING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906C13-F1D2-4A3E-8A34-3B164979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24125"/>
            <a:ext cx="17049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某热点模块需要独立水平扩展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835D025-51AE-408E-A37E-0BD92292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714500"/>
            <a:ext cx="2047875" cy="247650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B907CB6-6713-4312-8A89-5F51C8B5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857375"/>
            <a:ext cx="1781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81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FAILURE BOUNDARY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9EC51D5-F3B4-4B2E-8944-880FA2AC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524125"/>
            <a:ext cx="17049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一个模块失败不能拖垮整个研究任务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12F0D1-21EE-4534-AA89-BCF2C108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714500"/>
            <a:ext cx="2047875" cy="247650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705D0FA-1B2F-4902-870B-124EF6A1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857375"/>
            <a:ext cx="1781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81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OWNERSHIP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CF470E9-6FB4-4133-B060-72B3D837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524125"/>
            <a:ext cx="17049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不同团队需要独立发布和演进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0FF7B15-7AAF-41CC-8871-033F2C9A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714500"/>
            <a:ext cx="2047875" cy="247650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41BD807-FB91-4F54-B770-AF4F4B42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857375"/>
            <a:ext cx="1781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81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SLA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6B86DED-D22A-4401-82E2-1AD15674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524125"/>
            <a:ext cx="17049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模块出现独立 availability / latency SLO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0502AA1-A8D3-427E-BFDD-01C0C884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668000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4272ACC-0678-40DA-9211-FF7A1222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33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15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4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当前不拆的原因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E373952-D8AF-4BA4-AB5A-8E6429BC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05375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尚未出现上述清晰边界。当前先解决重复摘要、Follow-up 粒度、Context 和 durability；这些问题不会因为网络化而自动消失。</a:t>
            </a:r>
          </a:p>
        </p:txBody>
      </p:sp>
    </p:spTree>
    <p:extLst>
      <p:ext uri="{BB962C8B-B14F-4D97-AF65-F5344CB8AC3E}">
        <p14:creationId xmlns:p14="http://schemas.microsoft.com/office/powerpoint/2010/main" val="38566277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EC0774-B0E3-4860-97AD-4ED1DAFE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07 /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DD1B3-83F2-4BCB-8C6E-0AF4EF44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分阶段升级路线与 Trigger Metrics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F3A50-F16D-4E6B-A4B8-F0E3365A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BA438-1AD0-4BF7-8CAC-3CF2F7A2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architecture-decisions.md ADR-003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DF1F5-0E98-46EE-B400-9A63C862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23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F8308C-8189-40FD-AE65-6664A263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571625"/>
            <a:ext cx="2095500" cy="333375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60EF54C-4554-4D5B-9107-4412B436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74307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  CURRENT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6A7E9D-EBB1-4D8E-AE56-783AD22A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333625"/>
            <a:ext cx="1752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8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8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explicit graph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8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modular monolith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5B556B-C0FF-408B-BB4B-60FF8A70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32385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543CD32-9EDE-42AA-B28E-DB1F94E4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42900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12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13" b="1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13" b="1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TRIGGER METRICS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F07E995-1B42-4056-9ADF-2EEE25A5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762375"/>
            <a:ext cx="1752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6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controlled scale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2AB813E-A568-437E-8168-F1FB2E96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28875" y="31908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BD3796F-E5CC-4F0B-ACEF-9F157A83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19375" y="31527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EB6466-D716-40C2-902B-6A61CC18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571625"/>
            <a:ext cx="2095500" cy="333375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4F918A6-2B6B-43FF-866B-15D01696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74307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1  HARDEN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A13D5A1-4BFA-4319-AB91-9771941C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333625"/>
            <a:ext cx="1752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8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8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cache / bound / reserve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8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timeout / checkpoint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389AD62-FCF9-4D74-9A56-985DFB2B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33700" y="32385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7EE026F-36A3-422B-BA8F-CA620C6C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42900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12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13" b="1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13" b="1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TRIGGER METRICS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6D37B74-851A-4583-8CEC-E2A371C7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762375"/>
            <a:ext cx="1752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6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p95 latency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6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model cost / task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6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max context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6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tool timeout rate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B1DD57A-A0C7-478B-B85F-DB5D360F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91075" y="31908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B5A3FDF-FF3E-4C4E-9832-EA7AD1CD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81575" y="31527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AFE1879-B34A-45E6-AEF1-C305B3A9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571625"/>
            <a:ext cx="2095500" cy="333375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2910A9F-0E29-4558-BF85-CD5BDD2C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4307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2  DURABLE JOBS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7BFC641-711B-414B-852F-FF82A11B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333625"/>
            <a:ext cx="1752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8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8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queue / worker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8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outbox / idempotency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94B5CF2-2BE8-4D7C-A0B0-63110086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95900" y="32385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110D89B-42F8-4EB0-B2C6-7C02373E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12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13" b="1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13" b="1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TRIGGER METRICS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79342E4-0B8F-46AF-BA7A-69027878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762375"/>
            <a:ext cx="1752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6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queued requests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6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restart loss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6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retry / priority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6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multi-instance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2F2A6A4-A5E9-45A0-95BA-F90ABCDB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53275" y="31908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E693887-50CC-4CD2-924D-45A2F2AA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43775" y="31527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EE8A872-E3FE-4780-885D-788E0452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571625"/>
            <a:ext cx="2095500" cy="333375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0D552F7-2F03-4334-9518-0962B3B0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74307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3  SPLIT HOTSPOTS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D697F58-B1F9-4A18-896B-62DC984C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333625"/>
            <a:ext cx="1752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8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8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RAG / ingestion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8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MCP gateway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02B1EC6-AFC5-47B6-ACF8-20E2EC93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58100" y="32385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F28D8E3-24CD-4B32-BE1D-481D4B0B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42900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12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13" b="1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13" b="1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TRIGGER METRICS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DB1636F-3B35-4EEC-B4E2-D1C3C0E2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762375"/>
            <a:ext cx="1752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6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CPU / memory profile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6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independent scale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6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separate SLA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6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team ownership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6D1D56D-9E13-4E7D-90A4-918612EB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15475" y="31908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E5D0F44-4A79-4E4E-BA7A-C5DF27C3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705975" y="31527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981555C-7138-4129-9876-570E9C64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571625"/>
            <a:ext cx="2095500" cy="333375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70182D8-B16C-4675-99F4-96E5D5B9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74307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4  EVENT DRIVEN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A8CEDD4-667B-4CC4-972F-7C5D2819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33625"/>
            <a:ext cx="1752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8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8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evidence events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88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88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async pipelines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7678688-B26E-4840-945D-3BAD7B23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20300" y="32385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5091B83-1E8F-4404-A6F8-8459DD80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42900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12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13" b="1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13" b="1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TRIGGER METRICS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B2C0993-B642-42C1-80C4-67522DDA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762375"/>
            <a:ext cx="1752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6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sustained throughput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6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audit / replay needs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33B73B2-6603-45F2-A649-F5C35FF0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5727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D2867F6-C720-43CC-B6EF-9C2C22F5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Threshold calibrated by load test + business SLO：不拍脑袋设固定数字。</a:t>
            </a:r>
          </a:p>
        </p:txBody>
      </p:sp>
    </p:spTree>
    <p:extLst>
      <p:ext uri="{BB962C8B-B14F-4D97-AF65-F5344CB8AC3E}">
        <p14:creationId xmlns:p14="http://schemas.microsoft.com/office/powerpoint/2010/main" val="196107185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F39145-5E13-49BF-8705-ACB07766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07 /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BF7CC-F29F-410B-941D-9F5F17A2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优化顺序：按瓶颈与收益，不按技术酷炫程度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BBDB5-1BFA-4894-B828-F545698E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6FD32-61E3-419A-B706-AB7E1411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risk-register.md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259AD-69DF-4BAA-A53A-C8257004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24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0459D5-425A-458D-A12C-104B584D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762125"/>
            <a:ext cx="1666875" cy="2667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3C6212-7634-4890-90BA-97B8F7AD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67EC9A-D2EE-44BF-A1FF-59DCC3D5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76500"/>
            <a:ext cx="138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1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Remove unnecessary work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944182-381E-4BE8-98F6-7ECEA6D1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88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summary cache / dedupe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77B281-3231-4E7B-A831-FFEB8300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00250" y="30956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BE2765-E1B0-4BC6-94A5-C5F06CCB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209800" y="30575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0DF3E8-B26E-495A-B21B-24F3C0C9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62125"/>
            <a:ext cx="1666875" cy="2667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FC30663-70E6-479E-9D96-A8E1EA09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905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6C9326-14FD-49F7-B5AF-0C0F4515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76500"/>
            <a:ext cx="138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1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Bound worst case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D36118-4C7E-4A30-A7D6-303993F2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429000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88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Semaphore / timeout / max fan-out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CD1CE90-ABCD-4F05-9455-261F2D0D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52875" y="30956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20E37D-6F19-48EE-8294-C3F172D8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62425" y="30575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4DB0722-955B-4869-A771-ABE05AF7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62125"/>
            <a:ext cx="1666875" cy="2667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80B1AA2-9775-4067-A44A-301E83A7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F387A7C-E944-48BB-8AA1-BF7F4353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6500"/>
            <a:ext cx="138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1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Fix correctness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D94A443-99D6-41E4-A149-60823701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88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Budget reservation / safe errors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9189CCC-3A96-4D69-92FF-E2F5043B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0" y="30956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9FC0984-595B-4291-84DE-5351D69F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15050" y="30575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5B98BFF-C2FF-459D-91F1-04178BEB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1666875" cy="2667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F466632-5F40-4A55-AEED-F1B28B13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05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E6E5505-813D-4B32-851D-4565BA79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76500"/>
            <a:ext cx="138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1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Improve recovery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C981089-792E-465E-BBE2-A5CCFAD2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88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Checkpointer / outbox / retry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218F7B3-7DE1-4843-8737-5B854A1E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58125" y="30956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B1DDE8D-8FF3-42A4-B2FE-AF898BD9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67675" y="30575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CB48535-AE07-4196-B54C-20BE72B5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62125"/>
            <a:ext cx="1666875" cy="2667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4C82D65-6372-4F27-805B-ED146358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05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0B19FF5-3D55-47BF-9DB1-4D546D20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138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1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Add infrastructure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1BA3605-182C-41A8-BB80-4E4AA831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88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durable queue / shared admission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251327-EE7F-4B7F-A283-07ED81C4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10750" y="30956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5700F40-1E27-415D-B6CC-F58BBBD1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020300" y="30575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115C2E2-C81F-4049-AA67-9B1CEC22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762125"/>
            <a:ext cx="1666875" cy="2667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17F6070-675D-426B-A6DE-81A24389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905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01679EC-49C5-4A42-94C1-52208EDD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76500"/>
            <a:ext cx="138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13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013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Split services last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B7C11F2-A471-42F4-B924-83DBD828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429000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88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only with scale / SLA / ownership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6417FA2-49FE-402B-A2E9-B2E2DB38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10572750" cy="90487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3AF0283-782A-42C7-AB8A-B5C0FBDE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2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验证指标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9F5B22B-A53C-41A4-97C9-6BACCE00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244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1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91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Quality · Model calls · Tool calls · Search calls · Input / Output / Total tokens · Duration · p95 · Max context · Failure rate · Follow-up success</a:t>
            </a:r>
          </a:p>
        </p:txBody>
      </p:sp>
    </p:spTree>
    <p:extLst>
      <p:ext uri="{BB962C8B-B14F-4D97-AF65-F5344CB8AC3E}">
        <p14:creationId xmlns:p14="http://schemas.microsoft.com/office/powerpoint/2010/main" val="204052485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0B1D3B-F6DC-4C24-9CCE-B85CFEB2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08 / INTERVIEW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269EE-4740-43E2-A877-8325E174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Top 5 面试问题：30 秒回答与追问入口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DA4AB-F15D-449A-B2CC-500D8548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B07AA-4051-4B3E-A9CD-D8AFF448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architecture-decisions.md; risk-register.md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DA305-85FB-4D33-BA8D-74CA9A2F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25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08B333-5292-4D9D-B206-83B0E07F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2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1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QUESTION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2333D0-CE89-47AD-8973-786B9E9B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381125"/>
            <a:ext cx="3286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2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1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30 SECOND ANSWER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CC941C-FA24-4CD4-8804-13369641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811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2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1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FOLLOW-UP → DEEP ANSWER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96960E-B104-49F9-8D66-5113C010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3811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2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1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1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SOURCE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601E6D-07EB-417C-843C-29AA3572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66875"/>
            <a:ext cx="11191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D50594-4340-49B6-914D-5C9EE1AE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3355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为什么不用微服务？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D8341C-9A09-475C-B2B9-E76B6D65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33550"/>
            <a:ext cx="328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73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瓶颈是 LLM/web/context，不是 Python 吞吐；先模块化单体。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962305-B685-438B-B23D-67FAAB51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335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3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Q: 单体是不是单点故障？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3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A: Checkpointer → queue → multi-instance → hotspot split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C3686C-140E-4987-B819-C53E80EF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33550"/>
            <a:ext cx="119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ADR-001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09D448-1263-4493-AE0F-E91FB4E1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2343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C198A7-69A5-424E-89F8-2A2514B6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81275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为什么 LangGraph？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D1F8DF-2F6C-40F9-8FD5-E447617B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81275"/>
            <a:ext cx="328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73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业务天然有 fan-out、review、Send、merge、serial risk。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5F970F-46CA-47C0-A7F1-BCA655DF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8127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3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Q: 为什么不用 Supervisor？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3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A: 角色迁移和预算路径需要更可预测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876041-AB3A-4964-ABB1-642409FE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81275"/>
            <a:ext cx="119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deep_researcher.py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0FECAA-2182-4CFC-A565-B0D3DAD3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31908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99EA0A-DD6B-4DC0-9574-1ECF769A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362325"/>
            <a:ext cx="11191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3A8037-E2D4-484C-840C-4DEF2229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并发在哪里？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733FE3-669D-4439-ABE8-6AEB3312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29000"/>
            <a:ext cx="328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73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Request、Graph、Tool、Search、Writer、RAG、Memory。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DAF84A-A80D-4917-9E25-33333212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290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3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Q: gather 会怎样失败？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3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A: slowest tail；需要 timeout / bulkhead / circuit breaker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3C5B62C-12D9-4432-B71D-B95DD1D8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29000"/>
            <a:ext cx="119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agent_runtime.py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4BC4CC9-57C6-4D53-894A-37848FEE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40386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0D4E6D6-D6B2-466E-AE7B-16B8335A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76725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Follow-up 为什么保留？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BD2DBA6-616E-47E4-B846-64335E0F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76725"/>
            <a:ext cx="328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73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解决 evidence completeness；不该直接删除质量机制。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D2DC8E-BE34-4C6A-B08B-CE192E93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7672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3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Q: 为什么这么贵？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3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A: 当前补查仍启动完整 ReAct；演进为 Gap Worker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6DEF7B7-B554-4D6A-B4D9-9CAE9F3E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76725"/>
            <a:ext cx="119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research_review()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9245037-DF14-470B-8A42-41F92149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488632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8DD029A-42AF-4592-9876-65F911DE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057775"/>
            <a:ext cx="11191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46F4159-7FE1-48E5-A0E9-4F73ABA5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2445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Token 怎么控？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90F3E1C-F16A-4F92-A5C6-7F1B1616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24450"/>
            <a:ext cx="328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73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先减少 raw/repeat，再 rolling compact，再语义 Working Context。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00C9A8B-D7A4-4412-A223-BF3D5F4A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244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3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Q: 压缩值得吗？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03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A: 比较 compression_cost 和 downstream_tokens_saved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0B2EDD4-2203-478C-8D6E-4331265D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24450"/>
            <a:ext cx="119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_compact_history()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7275105-E6EF-49D9-861F-F552D16F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" y="57340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E8D8C8C-F8BB-4FD9-98FD-3815D3BE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完整 20 题：docs/interview-architecture/interview-question-bank.md</a:t>
            </a:r>
          </a:p>
        </p:txBody>
      </p:sp>
    </p:spTree>
    <p:extLst>
      <p:ext uri="{BB962C8B-B14F-4D97-AF65-F5344CB8AC3E}">
        <p14:creationId xmlns:p14="http://schemas.microsoft.com/office/powerpoint/2010/main" val="18953203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2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06DD84-4178-433F-AFBC-02F8C9C4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08 / INTERVIEW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F46D4-BDE1-49C3-9B86-22CC1FDA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一分钟总结：让复杂度与真实问题匹配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28F1D-C212-4CAF-A2C8-DB217B50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E475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5BD7A-E2CC-4FDE-8977-2CC1FD96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99A5B0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99A5B0"/>
                </a:solidFill>
                <a:latin typeface="Consolas"/>
                <a:ea typeface="Consolas"/>
                <a:cs typeface="Consolas"/>
              </a:rPr>
              <a:t>current source + code graph + cost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F9118-9F31-4184-9753-CDB908EC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D86077-7AFA-4376-B0E9-12F8F1AD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BUSINESS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496CE2-E3E7-40A5-AB2C-EA60E2FB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409700"/>
            <a:ext cx="890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多源证据收集、事实验证和风险响应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BE77CE-8000-447E-9972-E23D1E56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18764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2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D97F59-BA68-451A-A57A-B52892C8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ARCHITECTURE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C8383A-1F86-4CAF-9FE0-0AFE6620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095500"/>
            <a:ext cx="890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显式 LangGraph + 角色合同；部署保持模块化单体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B86E49-AFFC-4FB1-9876-07EACC28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25622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24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526E33-DE07-4D20-9A46-C8331D69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WHY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B25891-8C86-4273-8B64-992E8B34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781300"/>
            <a:ext cx="890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并行研究、Review、补查和 State Merge 可解释、可控制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6C8A55-9D38-42B9-BD41-FE11CA1A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32480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24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A9856D-D20A-4120-B962-8EEA13D0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BOTTLENECK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8261AD-4D12-4087-B115-50599208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67100"/>
            <a:ext cx="890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 Case 显示网页摘要、Follow-up 和 Context 增长最突出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1C86A0-DC00-4093-9123-957B9EB2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39338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24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F3CF79-D932-4A14-A273-4EC70F83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RISK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BEF39C-9AF7-44B3-9124-91CF7D21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152900"/>
            <a:ext cx="890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预算竞争、进程级并发、无生产 Checkpointer、Tool 故障边界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255DE8-1102-4F27-8135-44FD7686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46196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24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0BC8A8-03B8-4674-A712-D55B8461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NEXT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2EBA44-E3D2-4A22-BDD1-DCD7D561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838700"/>
            <a:ext cx="890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 Cache / Bound / Reserve / Checkpoint，再按触发条件拆热点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C63BAA-0792-4536-973D-E358C6D2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53054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24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CC13E2-064A-4CE8-9F14-89A3E3DE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477500" cy="52387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4A4EB7-84F8-4856-BD98-FF5846F0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4357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不是为了追求最少组件，而是在当前规模和约束下选择工程复杂度更低、调用链更容易解释、运维成本更可控的方案。</a:t>
            </a:r>
          </a:p>
        </p:txBody>
      </p:sp>
    </p:spTree>
    <p:extLst>
      <p:ext uri="{BB962C8B-B14F-4D97-AF65-F5344CB8AC3E}">
        <p14:creationId xmlns:p14="http://schemas.microsoft.com/office/powerpoint/2010/main" val="144218872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92E206-ABBA-49D5-94CC-1F2838F6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09 /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C81DB-29B3-4FE2-916F-14771FED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项目最大的 5 个工程问题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39A48-5F1B-4D38-A576-06DB93AB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F61BE-1A0B-4F0A-AF0F-63CFE48B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risk-register.md; source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789D4-FB5B-43EB-B7DE-29165194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9D666-EA2D-4ECA-9AF6-A766FE29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EA174-4536-4193-843F-7E9DABB7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4573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8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4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Web Summary Fan-out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D84B6D-57EA-497E-9389-47B5035F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573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8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一个网页约一个摘要调用；跨 Agent / round 可重复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BB62A0-A479-4FD6-B852-D6E1593C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76375"/>
            <a:ext cx="1714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889E11-042B-4237-BA84-9AC4901B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524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183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35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735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OPEN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4F5CC-6DB1-4AB7-A6E8-72416364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2066925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AD6CF-5CAA-4FEA-9CC5-8E714D7A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9A4D37-B2C3-4272-A032-AF4CAE0E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62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8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4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Follow-up Granularity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17F3BB-8733-4D4D-844F-F7EDA8A1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622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8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结构化 gap 有价值，但当前补查仍可能完整 ReAct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FB55E-5712-4761-B336-6E8BFE01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1714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82217-9F3C-457C-805E-3BB10112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28875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183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35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735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PARTIAL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693ED6-2B4A-479B-92E4-488DAD11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2971800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981697-67C1-4961-86BB-8AFDE9FE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861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4F88C4-FCBB-4193-B176-263FD98D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670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8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4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Context Growth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8464FF-56BB-4253-950F-59B80F7C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670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8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Tool/AI history 与 role reports 重复进入后续模型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7F841D-F916-4D93-940E-C1BEA3ED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86125"/>
            <a:ext cx="1714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B9B3FC-7345-443A-925A-ED200DBF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3337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183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35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735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PARTIAL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D3415F-C731-4B56-945F-39825574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3876675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69E97B-E25A-4E00-B800-5F132256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E5C8AB-F168-41E2-B4C2-985BE52F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7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8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4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Parallel Budget Race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1C2107-C570-4881-8A43-EB8C7984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719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8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并行分支先 check，完成后才 reducer merge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C8987A-3425-4F75-A11F-E336B47D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0"/>
            <a:ext cx="1714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A2B49F-70DB-401F-BF7F-DD391146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238625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183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35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735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PARTIAL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C360A5-FC56-4A73-8C6C-16EC2206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4781550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C44D72-20E7-4B0E-8EE7-0B9529AE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E2D4BB-ED21-41F0-A7FE-6E5D7627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768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8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4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Durability / Recovery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11A47D-2B45-4E1D-8FB1-66511C1C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768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8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生产无 Checkpointer；daemon index 不保证完成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5CE844-B9CD-4B49-A4DB-A083EAD4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95875"/>
            <a:ext cx="1714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255F4F-E821-4BC1-87A1-BF5B2FEA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1435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183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35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735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ACCEPTED / PARTIAL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ED9C8C-B408-482E-A150-77C8254E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5686425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6615131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AC08A7-91C4-4DCC-AED2-E7885397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09 /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1A9EA-2CC4-448D-8E83-43B0F99D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我做架构判断的方法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25370-C153-4E0B-9D53-6D7FFE4C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FB9FA-C28A-4AB7-BD8D-C09F3DD2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architecture-decisions.md; risk-register.md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2D293-DC0E-4F50-A141-C0041BCB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5D7E6-2E3B-4DA9-A485-85E261F7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2EA33-6E12-4F0C-8D34-E3898240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4307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6CA51-5731-45D8-A3D1-B081C431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97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latency / concurrency / slowest tail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D747D-297E-42D4-8AC4-CBF9CA9D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71625"/>
            <a:ext cx="333375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B328C-8399-4E17-B7F1-1A655B33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74307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COST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B21DB3-96D6-4F06-986A-3ED28DA9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383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tokens / model calls / tool calls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8FD33-5231-460D-8CC4-DDF73EDA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33375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D5A82-91C5-4DE8-BE55-36FE2AE2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4307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CORRECTNESS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262C9B-D921-4B6D-9DEC-C5847061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383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97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evidence completeness / state consistency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8B7499-5D78-41BA-BC32-3ABB3FAC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333375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1FFF56-59F0-48EB-B256-9EB7C2A5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RELIABILITY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1E337C-2999-4B70-8428-2A62DB37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910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97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timeout / retry / recovery / idempotency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3F3387-4406-4852-B268-078D8886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24250"/>
            <a:ext cx="333375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35C6BA-279E-4088-A059-6C0511F8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695700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COMPLEXITY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45F028-1574-4D68-A202-DADE874A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910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97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operational overhead / debug path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74B246-AAEF-4E76-9BC9-77A336C2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33375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A01E66-3CD9-43BF-8365-D3023DC0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95700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863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863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SCALE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8EDDB5-C08C-4471-B4E6-4E28D599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910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97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independent scaling / SLA / ownership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2368F2-C54B-46CF-A3A5-50BA52A7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104775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058E85-F9F2-4088-BD40-0D79E9E6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959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2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我不是看到问题就加组件，而是先判断问题属于哪个维度，再比较收益、风险和运维成本。</a:t>
            </a:r>
          </a:p>
        </p:txBody>
      </p:sp>
    </p:spTree>
    <p:extLst>
      <p:ext uri="{BB962C8B-B14F-4D97-AF65-F5344CB8AC3E}">
        <p14:creationId xmlns:p14="http://schemas.microsoft.com/office/powerpoint/2010/main" val="86774642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DBD7AB6-1CE8-4EC0-A64F-F2393391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10 /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A5D25-2691-49E6-8370-382272FB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面试追问链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B43FF-5E53-49A6-A6F8-2E369CC5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1EC703-6804-4B69-ABB6-99C172D7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interview-question-bank.md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C6BC5-1FE4-4BB1-AADE-A9630FCB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8D72D-E0D9-4278-8B2D-030D2589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ARCHITECTURE CHAIN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DBC8E-D26B-445F-B644-F9ABAF14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4762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A2B23-C649-4A07-A93F-A9D1199F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5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为什么不用微服务？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571F5-6863-4773-BE7D-8372DDD3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52750" y="22669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245D1-D3FA-473A-8EBA-18FDE1CA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914650" y="23622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49997-96EA-40B8-9421-B686705C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8400"/>
            <a:ext cx="4762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5F4B64-11EF-419B-BC76-96CB9C54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5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单体怎么扩容？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2E317F-3F93-4AB0-A45D-76DF7ACE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52750" y="28956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2072F9-0496-4793-B338-2338E228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914650" y="29908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E3AF8-A2B3-4D55-9097-A4318DC0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4762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9705A4-5BB5-453C-8A2D-F91DF0AF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5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多实例 Semaphore 怎么办？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FEEB0D-5D0F-43DF-AB84-077A346C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52750" y="35242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F77E66-686C-4BD0-BD21-6FF60593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914650" y="36195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B91C79-8CFE-45D9-94AC-F3CB1862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700"/>
            <a:ext cx="4762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F9C6FF-8A8D-406A-AD59-F1B91E2A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5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任务失败怎么恢复？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C9C9B0-CB38-4902-AB46-67ECB986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52750" y="41529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E9D34C-9799-4594-91C2-75C2AC34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914650" y="42481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C91D9D-C9D2-4A2F-B22C-10FBDADF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24350"/>
            <a:ext cx="4762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9715D7-7ED0-43C1-8881-55C29C06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5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什么时候引入 Queue？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5D1A36-F72E-46E8-8BC3-5FCF4907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52750" y="47815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C58B66-99D2-496D-BDD4-AA02DDBA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914650" y="48768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50AFED-A7EB-4BE2-8236-A853115F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4762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C5CAB6-91D6-4C85-B009-3E3925B0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5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什么时候拆服务？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6AB472-A09E-42CC-863A-6C82DC80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COST / QUALITY CHAIN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99D7DC-7083-4709-8D00-E788C3F3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762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CA0997-E630-404A-8266-06A9A139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2405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5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为什么 Follow-up？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20315B-1FE9-45EB-A41C-12EF43CA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48750" y="22669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3273CE-B54D-4AAE-AA98-A1E6533C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010650" y="23622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639293-7978-4C88-BE19-D5D3D237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38400"/>
            <a:ext cx="4762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49E887-11EF-40AB-88C5-CB3C5019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5270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5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为什么这么贵？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78A5D5-7882-41DC-A55D-C3C8D9CC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48750" y="28956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235FEB-48EA-40DB-9B21-B2182CD0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010650" y="29908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8DBC94-4DEF-4E1B-BF80-A30EE0DF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4762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A66E8B-58DA-4176-B38D-B2AB9D08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8135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5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为什么不用便宜模型？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362282-8798-41CC-BBA3-C777FCB2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48750" y="35242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3CDE2F-80C6-4860-BC21-F322B3CF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010650" y="36195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ADCF29-9B50-41F6-836A-5B0AD6AE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95700"/>
            <a:ext cx="4762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7F276D-B3A9-4783-B840-93B1A68E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1000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5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为什么不缓存？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3B652D3-32DF-4197-977E-5BB1A020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48750" y="41529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142137-FE5A-42B6-AD6B-5FF22F97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010650" y="42481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EF28503-D0F1-4797-ADA1-A83B1279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4762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18D0FBF-E0E1-449B-B0AE-AA46AB86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3865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5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Gap Worker 怎么设计？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E7C871-1DF9-47E5-A424-D5ABE148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48750" y="47815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7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D361B7-01A4-4F0E-895C-1CE466C5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010650" y="48768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17C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6C2CFD-3B42-4CA7-950B-F7A9CB91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0"/>
            <a:ext cx="4762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BA1BFCD-1D18-4C3B-BD83-26B99FFE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6730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54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怎么证明质量没下降？</a:t>
            </a:r>
          </a:p>
        </p:txBody>
      </p:sp>
    </p:spTree>
    <p:extLst>
      <p:ext uri="{BB962C8B-B14F-4D97-AF65-F5344CB8AC3E}">
        <p14:creationId xmlns:p14="http://schemas.microsoft.com/office/powerpoint/2010/main" val="198307583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05471F-C8BF-4509-807C-45BFD668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10 /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EA7BF-A7AB-465C-A674-C8826867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面试官可能沿哪几条线追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D6BF5-A33D-4F46-A395-57A42EC8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ACE27-3CDC-4BDF-94AE-7F6FC70C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interview-question-bank.md; interview-source-map.md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411DE-F7FD-4064-8691-FB2E6AD4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8E343D-09FB-448D-884D-558428BA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1049000" cy="809625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62A82-6265-45B1-AD2F-BC9E1A26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764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AF786-1498-4144-9033-478272E2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47825"/>
            <a:ext cx="833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LangGraph → Agent roles → modular monolith → microservices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50FF6-1D88-4027-83DA-2175B5A3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1049000" cy="809625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65A1A-9584-4A9A-AB43-2E2A674A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717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F59E0B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CONCURRENCY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59116-89B9-4B10-8B00-C6BD7CD9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43200"/>
            <a:ext cx="833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asyncio → gather → Semaphore → race → BudgetBroker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57C0AE-AB4A-4782-9716-9CAC7C3B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1049000" cy="809625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43329-EA5B-42ED-9EAE-C5F7227B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671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COST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864BDE-1BD6-4162-B59E-38CA5ECF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38575"/>
            <a:ext cx="833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summary → follow-up → context → compression → cache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995D1-9438-4D90-8EE0-D40822FF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11049000" cy="809625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30A558-D592-4651-B966-A7EB7413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RELIABILITY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EE7459-6CA0-4518-A219-6671FF18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33950"/>
            <a:ext cx="833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21417"/>
                </a:solidFill>
                <a:latin typeface="Consolas"/>
                <a:ea typeface="Consolas"/>
                <a:cs typeface="Consolas"/>
              </a:rPr>
              <a:t>timeout → checkpoint → queue → outbox → idempotency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E4F986-7B5A-4E4E-925A-ECB12B5F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4775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B2EA14-D70E-420E-9D3D-1002061D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007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962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练习方式：每条线先答 30 秒，再沿箭头准备 2～3 层追问。</a:t>
            </a:r>
          </a:p>
        </p:txBody>
      </p:sp>
    </p:spTree>
    <p:extLst>
      <p:ext uri="{BB962C8B-B14F-4D97-AF65-F5344CB8AC3E}">
        <p14:creationId xmlns:p14="http://schemas.microsoft.com/office/powerpoint/2010/main" val="200745405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10AA3F-2177-4742-AE00-CCD36B74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10 /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2E1E9-B09C-48CB-8D9A-EF65EE8A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Appendix A：Concurrency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FB86E6-E284-4414-BE04-BCE442D1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1E74A-27C3-43B8-AA9C-45A05DF8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interview-question-bank.md Q5/Q6/Q11/Q12/Q13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54046-780E-45AE-90C7-4BCC7F56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FB617-D264-4104-A0C6-947E9A3A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62075"/>
            <a:ext cx="11144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C8315-6D15-4EC0-A265-7028A6E5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Q5 并发在哪里？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B210B-D824-496A-AF79-11482CE0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2875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Request / Graph / Tool / Search / Writer / RAG / Memory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DD83DF-3230-4C0A-AFA3-D2CF884B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19240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5116E-5B12-4CC8-A26A-F2698E98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09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Q6 gather 的问题？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B0F608-231A-4651-BB76-F35648C9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98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slowest tail；Runtime 无统一 per-tool timeout / bulkhead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00B9E7-AF11-4A5B-882F-F534AB9B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27051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E42EBC-63B4-48FD-86AA-F5126423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24175"/>
            <a:ext cx="11144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6DE34A-5867-425C-9834-FD1F19B9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90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Q11 并行预算怎么保证？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E7995-B8E6-4711-BBBB-409379F6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9085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当前 guards + reducer；PROPOSED BudgetBroker reservation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49F9BC-B699-4847-8967-7DF21EF5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34861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6376ED-8661-4D60-BDD2-06F4C06A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19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Q12 Reducer 为什么不够？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B98AC1-8D73-498F-A156-04084671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719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post-execution merge ≠ pre-execution mutual exclusion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83E134-2D5B-4662-9C45-65BAFD11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42672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6D1EAE-F563-4782-B78E-224CCE7A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86275"/>
            <a:ext cx="11144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06ACD4-1C01-449F-B654-3F7AD39E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529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Q13 Semaphore 多实例？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06356E-DD7E-4C5C-9EBB-DB3F91E3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5295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每个进程独立配额；需要 distributed admission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3F9840-E126-4537-9B93-21B32063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50482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0E82FA-3E41-4562-BE93-924EEA4A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340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90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Q14 崩溃怎么恢复？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A0A336-D1D0-490F-B94A-403F6F69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340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当前无 production checkpointer；规模增长后 durable jobs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AEB4E3-6E6D-4DFA-9745-5C0FC3A6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9125" y="58293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0831521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34C9A2-D828-4ECE-B157-7FBE5CCA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10 /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442DE-6736-4B6F-96B5-15E7EAE2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09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Appendix B：Architecture / Cost / Evolution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EF2A2-FF71-476C-B732-16392D16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11334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3B902-CD30-4065-AB90-155D8824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50" b="0">
                <a:solidFill>
                  <a:srgbClr val="66717C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66717C"/>
                </a:solidFill>
                <a:latin typeface="Consolas"/>
                <a:ea typeface="Consolas"/>
                <a:cs typeface="Consolas"/>
              </a:rPr>
              <a:t>interview-question-bank.md; interview-source-map.md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D3CFA-8AB9-4967-B7AB-27FD3BFB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A5BC2-BADF-4CD4-83E0-3792C0A1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3333750" cy="381000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18E4C-BCA7-4214-A70A-B519F4C4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10642-C149-4F54-A459-4181B02B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9EED2-DA0B-4460-B3C2-BA33AC4B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098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7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Q1 为什么不用微服务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A0217-F26A-4F8B-9806-059AA992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9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5AD29-BE53-4922-8904-C8F67F86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7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Q2 为什么 LangGraph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ECB523-FC4B-4319-8599-B072FAE8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527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EF531E-5C6B-4510-8493-9918CD73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242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7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Q3 为什么多个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91D650-809D-498A-BC12-BB89C3D6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099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3B82F6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3B82F6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18E59-4FB4-4DCE-A280-B1AFBF13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814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7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Q4 角色如何协作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A86EBB-AFE0-4A15-A9F9-658AE45C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24000"/>
            <a:ext cx="3333750" cy="381000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F44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60BF0B-52D4-4897-AE4A-B22CC3E2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COST +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21B36-9451-45C6-B822-11459501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383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4AC2AF-FD71-4FF1-B2E0-3E042914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098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7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Q7 Token 怎么控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3C4CC6-6301-4AF8-98F7-3CE9DEDA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9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B08FAD-B7C1-4D6E-8033-C6927401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670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7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Q8 Follow-up 为什么保留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27497E-FBEE-4325-8ABF-85F5308A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527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A3F2F2-05B6-48DD-86EE-9313D369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242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7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Q9 为什么压缩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00A079-861B-49DF-8A75-E89BC004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99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EF4444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6233EA-8BF3-4A72-A012-D294C864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814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7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Q10 压缩值得吗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96332C-E069-4C46-BF66-6A9BBCF5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3333750" cy="381000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417585-0ECD-4CF0-9DAD-BDC3F7FD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EVOLUTION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EE4680-8F25-4665-A63E-86CE47A3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383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B7D334-D4A8-4F77-8053-6CFD3C69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098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7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Q15 RAG 何时拆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61C51A-1F33-45EA-8156-5D48936A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9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CAF821-85E5-4A67-9962-C70A1637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670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7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Q16 MCP 挂了怎么办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7F516F-A158-4C2E-9C63-E43A87A5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527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ED7C03-F3D6-4AD5-A8DF-E3C25032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242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7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Q17 流量 10 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B7A371-7020-4181-82BB-B3E013C4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099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C6D6D5-B2AD-40D8-9CAA-875C5B1B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5814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7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Q18 最大技术债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EA15D2-1D11-4823-AB95-29E00F85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671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74E285-DDDB-4D17-BA6F-7B679165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0386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7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Q19 再做一个月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F92300-8146-4569-989E-0B831F93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243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5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788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788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26F94A-4D77-4D9B-AFE6-65BEFF6E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4958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73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21417"/>
                </a:solidFill>
                <a:latin typeface="Microsoft YaHei"/>
                <a:ea typeface="Microsoft YaHei"/>
                <a:cs typeface="Microsoft YaHei"/>
              </a:rPr>
              <a:t>Q20 最佳设计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ADB2BF-F791-4ED2-A960-0A3EBAA2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42862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3335">
            <a:solidFill>
              <a:srgbClr val="22C55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DE78D5-4864-4659-ADBF-CADBA862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293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7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22C55E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22C55E"/>
                </a:solidFill>
                <a:latin typeface="Consolas"/>
                <a:ea typeface="Consolas"/>
                <a:cs typeface="Consolas"/>
              </a:rPr>
              <a:t>详细 30 秒回答、深入回答、追问与 Source 均在 interview-question-bank.md。</a:t>
            </a:r>
          </a:p>
        </p:txBody>
      </p:sp>
    </p:spTree>
    <p:extLst>
      <p:ext uri="{BB962C8B-B14F-4D97-AF65-F5344CB8AC3E}">
        <p14:creationId xmlns:p14="http://schemas.microsoft.com/office/powerpoint/2010/main" val="15176522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2026-09-24T01:02:50.1740000Z</dcterms:created>
  <dcterms:modified xsi:type="dcterms:W3CDTF">2026-09-24T01:02:50.1740000Z</dcterms:modified>
</coreProperties>
</file>