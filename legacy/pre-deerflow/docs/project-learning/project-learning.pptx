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38878da13c469a" /><Relationship Type="http://schemas.openxmlformats.org/officeDocument/2006/relationships/extended-properties" Target="/docProps/app.xml" Id="Rc4cc5603ea634b58" /><Relationship Type="http://schemas.openxmlformats.org/officeDocument/2006/relationships/officeDocument" Target="/ppt/presentation.xml" Id="R8bc1ca8279a74f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9c14649a454d5d"/>
  </p:sldMasterIdLst>
  <p:notesMasterIdLst>
    <p:notesMasterId xmlns:r="http://schemas.openxmlformats.org/officeDocument/2006/relationships" r:id="R7cfd0c7cc3a841ac"/>
  </p:notesMasterIdLst>
  <p:sldIdLst>
    <p:sldId xmlns:r="http://schemas.openxmlformats.org/officeDocument/2006/relationships" id="256" r:id="R85b82d8be173475e"/>
    <p:sldId xmlns:r="http://schemas.openxmlformats.org/officeDocument/2006/relationships" id="257" r:id="R24a7917e860349b1"/>
    <p:sldId xmlns:r="http://schemas.openxmlformats.org/officeDocument/2006/relationships" id="258" r:id="Rdb2a8dd8387c42a7"/>
    <p:sldId xmlns:r="http://schemas.openxmlformats.org/officeDocument/2006/relationships" id="259" r:id="Rff026400d6104449"/>
    <p:sldId xmlns:r="http://schemas.openxmlformats.org/officeDocument/2006/relationships" id="260" r:id="R2d2515e07b53455e"/>
    <p:sldId xmlns:r="http://schemas.openxmlformats.org/officeDocument/2006/relationships" id="261" r:id="Raecdccff89034f1f"/>
    <p:sldId xmlns:r="http://schemas.openxmlformats.org/officeDocument/2006/relationships" id="262" r:id="R19805b772f1c4144"/>
    <p:sldId xmlns:r="http://schemas.openxmlformats.org/officeDocument/2006/relationships" id="263" r:id="R8e87ab046d1c47cd"/>
    <p:sldId xmlns:r="http://schemas.openxmlformats.org/officeDocument/2006/relationships" id="264" r:id="Rbdcc0d21d58a4bf9"/>
    <p:sldId xmlns:r="http://schemas.openxmlformats.org/officeDocument/2006/relationships" id="265" r:id="Rac29866f3c994830"/>
    <p:sldId xmlns:r="http://schemas.openxmlformats.org/officeDocument/2006/relationships" id="266" r:id="R2c7ee87e1fc14ef8"/>
    <p:sldId xmlns:r="http://schemas.openxmlformats.org/officeDocument/2006/relationships" id="267" r:id="R9b8232c5176342c7"/>
    <p:sldId xmlns:r="http://schemas.openxmlformats.org/officeDocument/2006/relationships" id="268" r:id="R9dc78865c2674c11"/>
    <p:sldId xmlns:r="http://schemas.openxmlformats.org/officeDocument/2006/relationships" id="269" r:id="R6ebd213ba142413f"/>
    <p:sldId xmlns:r="http://schemas.openxmlformats.org/officeDocument/2006/relationships" id="270" r:id="Rf0f87e0fce8248da"/>
    <p:sldId xmlns:r="http://schemas.openxmlformats.org/officeDocument/2006/relationships" id="271" r:id="Rf0f416ff8d2e40e0"/>
    <p:sldId xmlns:r="http://schemas.openxmlformats.org/officeDocument/2006/relationships" id="272" r:id="Rba56eb7826454a54"/>
    <p:sldId xmlns:r="http://schemas.openxmlformats.org/officeDocument/2006/relationships" id="273" r:id="Rc6a2b7098e6544de"/>
    <p:sldId xmlns:r="http://schemas.openxmlformats.org/officeDocument/2006/relationships" id="274" r:id="Rfafb0e76bcff4cd4"/>
    <p:sldId xmlns:r="http://schemas.openxmlformats.org/officeDocument/2006/relationships" id="275" r:id="Rf399159835104219"/>
    <p:sldId xmlns:r="http://schemas.openxmlformats.org/officeDocument/2006/relationships" id="276" r:id="R0285a6a9793c4073"/>
    <p:sldId xmlns:r="http://schemas.openxmlformats.org/officeDocument/2006/relationships" id="277" r:id="R17b7fcd0472d46f1"/>
    <p:sldId xmlns:r="http://schemas.openxmlformats.org/officeDocument/2006/relationships" id="278" r:id="R2b43ceed61db4c86"/>
    <p:sldId xmlns:r="http://schemas.openxmlformats.org/officeDocument/2006/relationships" id="279" r:id="Rcc9215239dbe40aa"/>
    <p:sldId xmlns:r="http://schemas.openxmlformats.org/officeDocument/2006/relationships" id="280" r:id="Rebdefb0285c44968"/>
    <p:sldId xmlns:r="http://schemas.openxmlformats.org/officeDocument/2006/relationships" id="281" r:id="Rfb8ba8e5b8b44b17"/>
    <p:sldId xmlns:r="http://schemas.openxmlformats.org/officeDocument/2006/relationships" id="282" r:id="R6f1bfff6a8824f42"/>
    <p:sldId xmlns:r="http://schemas.openxmlformats.org/officeDocument/2006/relationships" id="283" r:id="R50bd7ace27634b06"/>
    <p:sldId xmlns:r="http://schemas.openxmlformats.org/officeDocument/2006/relationships" id="284" r:id="R209e46a3442a45ab"/>
    <p:sldId xmlns:r="http://schemas.openxmlformats.org/officeDocument/2006/relationships" id="285" r:id="R39f467c4b7f04863"/>
    <p:sldId xmlns:r="http://schemas.openxmlformats.org/officeDocument/2006/relationships" id="286" r:id="Rb28ec35e49934b6b"/>
    <p:sldId xmlns:r="http://schemas.openxmlformats.org/officeDocument/2006/relationships" id="287" r:id="R4520df87b7a4404a"/>
    <p:sldId xmlns:r="http://schemas.openxmlformats.org/officeDocument/2006/relationships" id="288" r:id="Rc6a7c031ce694057"/>
    <p:sldId xmlns:r="http://schemas.openxmlformats.org/officeDocument/2006/relationships" id="289" r:id="R3ce24f839792433a"/>
    <p:sldId xmlns:r="http://schemas.openxmlformats.org/officeDocument/2006/relationships" id="290" r:id="R26180ce247e24e1d"/>
    <p:sldId xmlns:r="http://schemas.openxmlformats.org/officeDocument/2006/relationships" id="291" r:id="R63eafbcf8f20441d"/>
    <p:sldId xmlns:r="http://schemas.openxmlformats.org/officeDocument/2006/relationships" id="292" r:id="Rbbc75966bb514f5d"/>
    <p:sldId xmlns:r="http://schemas.openxmlformats.org/officeDocument/2006/relationships" id="293" r:id="Reefd88f4a6da4096"/>
    <p:sldId xmlns:r="http://schemas.openxmlformats.org/officeDocument/2006/relationships" id="294" r:id="Rd10ed73ab1a044cb"/>
    <p:sldId xmlns:r="http://schemas.openxmlformats.org/officeDocument/2006/relationships" id="295" r:id="R50b84bbf76b44374"/>
    <p:sldId xmlns:r="http://schemas.openxmlformats.org/officeDocument/2006/relationships" id="296" r:id="R0f114556fe504697"/>
    <p:sldId xmlns:r="http://schemas.openxmlformats.org/officeDocument/2006/relationships" id="297" r:id="R15552d6211e747f8"/>
    <p:sldId xmlns:r="http://schemas.openxmlformats.org/officeDocument/2006/relationships" id="298" r:id="R1fd314674cd2419d"/>
    <p:sldId xmlns:r="http://schemas.openxmlformats.org/officeDocument/2006/relationships" id="299" r:id="Ra23bfc5821cc4feb"/>
    <p:sldId xmlns:r="http://schemas.openxmlformats.org/officeDocument/2006/relationships" id="300" r:id="Rdb9eade520f1476a"/>
    <p:sldId xmlns:r="http://schemas.openxmlformats.org/officeDocument/2006/relationships" id="301" r:id="Rd54b963fb3b24a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f3bdd3cbdd4e63" /><Relationship Type="http://schemas.openxmlformats.org/officeDocument/2006/relationships/slideMaster" Target="/ppt/slideMasters/slideMaster1.xml" Id="R579c14649a454d5d" /><Relationship Type="http://schemas.openxmlformats.org/officeDocument/2006/relationships/notesMaster" Target="/ppt/notesMasters/notesMaster1.xml" Id="R7cfd0c7cc3a841ac" /><Relationship Type="http://schemas.openxmlformats.org/officeDocument/2006/relationships/presProps" Target="/ppt/presProps.xml" Id="R94c45bcde4b243d4" /><Relationship Type="http://schemas.openxmlformats.org/officeDocument/2006/relationships/tableStyles" Target="/ppt/tableStyles.xml" Id="R6f302aff303b492b" /><Relationship Type="http://schemas.openxmlformats.org/officeDocument/2006/relationships/slide" Target="/ppt/slides/slide1.xml" Id="R85b82d8be173475e" /><Relationship Type="http://schemas.openxmlformats.org/officeDocument/2006/relationships/slide" Target="/ppt/slides/slide2.xml" Id="R24a7917e860349b1" /><Relationship Type="http://schemas.openxmlformats.org/officeDocument/2006/relationships/slide" Target="/ppt/slides/slide3.xml" Id="Rdb2a8dd8387c42a7" /><Relationship Type="http://schemas.openxmlformats.org/officeDocument/2006/relationships/slide" Target="/ppt/slides/slide4.xml" Id="Rff026400d6104449" /><Relationship Type="http://schemas.openxmlformats.org/officeDocument/2006/relationships/slide" Target="/ppt/slides/slide5.xml" Id="R2d2515e07b53455e" /><Relationship Type="http://schemas.openxmlformats.org/officeDocument/2006/relationships/slide" Target="/ppt/slides/slide6.xml" Id="Raecdccff89034f1f" /><Relationship Type="http://schemas.openxmlformats.org/officeDocument/2006/relationships/slide" Target="/ppt/slides/slide7.xml" Id="R19805b772f1c4144" /><Relationship Type="http://schemas.openxmlformats.org/officeDocument/2006/relationships/slide" Target="/ppt/slides/slide8.xml" Id="R8e87ab046d1c47cd" /><Relationship Type="http://schemas.openxmlformats.org/officeDocument/2006/relationships/slide" Target="/ppt/slides/slide9.xml" Id="Rbdcc0d21d58a4bf9" /><Relationship Type="http://schemas.openxmlformats.org/officeDocument/2006/relationships/slide" Target="/ppt/slides/slide10.xml" Id="Rac29866f3c994830" /><Relationship Type="http://schemas.openxmlformats.org/officeDocument/2006/relationships/slide" Target="/ppt/slides/slide11.xml" Id="R2c7ee87e1fc14ef8" /><Relationship Type="http://schemas.openxmlformats.org/officeDocument/2006/relationships/slide" Target="/ppt/slides/slide12.xml" Id="R9b8232c5176342c7" /><Relationship Type="http://schemas.openxmlformats.org/officeDocument/2006/relationships/slide" Target="/ppt/slides/slide13.xml" Id="R9dc78865c2674c11" /><Relationship Type="http://schemas.openxmlformats.org/officeDocument/2006/relationships/slide" Target="/ppt/slides/slide14.xml" Id="R6ebd213ba142413f" /><Relationship Type="http://schemas.openxmlformats.org/officeDocument/2006/relationships/slide" Target="/ppt/slides/slide15.xml" Id="Rf0f87e0fce8248da" /><Relationship Type="http://schemas.openxmlformats.org/officeDocument/2006/relationships/slide" Target="/ppt/slides/slide16.xml" Id="Rf0f416ff8d2e40e0" /><Relationship Type="http://schemas.openxmlformats.org/officeDocument/2006/relationships/slide" Target="/ppt/slides/slide17.xml" Id="Rba56eb7826454a54" /><Relationship Type="http://schemas.openxmlformats.org/officeDocument/2006/relationships/slide" Target="/ppt/slides/slide18.xml" Id="Rc6a2b7098e6544de" /><Relationship Type="http://schemas.openxmlformats.org/officeDocument/2006/relationships/slide" Target="/ppt/slides/slide19.xml" Id="Rfafb0e76bcff4cd4" /><Relationship Type="http://schemas.openxmlformats.org/officeDocument/2006/relationships/slide" Target="/ppt/slides/slide20.xml" Id="Rf399159835104219" /><Relationship Type="http://schemas.openxmlformats.org/officeDocument/2006/relationships/slide" Target="/ppt/slides/slide21.xml" Id="R0285a6a9793c4073" /><Relationship Type="http://schemas.openxmlformats.org/officeDocument/2006/relationships/slide" Target="/ppt/slides/slide22.xml" Id="R17b7fcd0472d46f1" /><Relationship Type="http://schemas.openxmlformats.org/officeDocument/2006/relationships/slide" Target="/ppt/slides/slide23.xml" Id="R2b43ceed61db4c86" /><Relationship Type="http://schemas.openxmlformats.org/officeDocument/2006/relationships/slide" Target="/ppt/slides/slide24.xml" Id="Rcc9215239dbe40aa" /><Relationship Type="http://schemas.openxmlformats.org/officeDocument/2006/relationships/slide" Target="/ppt/slides/slide25.xml" Id="Rebdefb0285c44968" /><Relationship Type="http://schemas.openxmlformats.org/officeDocument/2006/relationships/slide" Target="/ppt/slides/slide26.xml" Id="Rfb8ba8e5b8b44b17" /><Relationship Type="http://schemas.openxmlformats.org/officeDocument/2006/relationships/slide" Target="/ppt/slides/slide27.xml" Id="R6f1bfff6a8824f42" /><Relationship Type="http://schemas.openxmlformats.org/officeDocument/2006/relationships/slide" Target="/ppt/slides/slide28.xml" Id="R50bd7ace27634b06" /><Relationship Type="http://schemas.openxmlformats.org/officeDocument/2006/relationships/slide" Target="/ppt/slides/slide29.xml" Id="R209e46a3442a45ab" /><Relationship Type="http://schemas.openxmlformats.org/officeDocument/2006/relationships/slide" Target="/ppt/slides/slide30.xml" Id="R39f467c4b7f04863" /><Relationship Type="http://schemas.openxmlformats.org/officeDocument/2006/relationships/slide" Target="/ppt/slides/slide31.xml" Id="Rb28ec35e49934b6b" /><Relationship Type="http://schemas.openxmlformats.org/officeDocument/2006/relationships/slide" Target="/ppt/slides/slide32.xml" Id="R4520df87b7a4404a" /><Relationship Type="http://schemas.openxmlformats.org/officeDocument/2006/relationships/slide" Target="/ppt/slides/slide33.xml" Id="Rc6a7c031ce694057" /><Relationship Type="http://schemas.openxmlformats.org/officeDocument/2006/relationships/slide" Target="/ppt/slides/slide34.xml" Id="R3ce24f839792433a" /><Relationship Type="http://schemas.openxmlformats.org/officeDocument/2006/relationships/slide" Target="/ppt/slides/slide35.xml" Id="R26180ce247e24e1d" /><Relationship Type="http://schemas.openxmlformats.org/officeDocument/2006/relationships/slide" Target="/ppt/slides/slide36.xml" Id="R63eafbcf8f20441d" /><Relationship Type="http://schemas.openxmlformats.org/officeDocument/2006/relationships/slide" Target="/ppt/slides/slide37.xml" Id="Rbbc75966bb514f5d" /><Relationship Type="http://schemas.openxmlformats.org/officeDocument/2006/relationships/slide" Target="/ppt/slides/slide38.xml" Id="Reefd88f4a6da4096" /><Relationship Type="http://schemas.openxmlformats.org/officeDocument/2006/relationships/slide" Target="/ppt/slides/slide39.xml" Id="Rd10ed73ab1a044cb" /><Relationship Type="http://schemas.openxmlformats.org/officeDocument/2006/relationships/slide" Target="/ppt/slides/slide40.xml" Id="R50b84bbf76b44374" /><Relationship Type="http://schemas.openxmlformats.org/officeDocument/2006/relationships/slide" Target="/ppt/slides/slide41.xml" Id="R0f114556fe504697" /><Relationship Type="http://schemas.openxmlformats.org/officeDocument/2006/relationships/slide" Target="/ppt/slides/slide42.xml" Id="R15552d6211e747f8" /><Relationship Type="http://schemas.openxmlformats.org/officeDocument/2006/relationships/slide" Target="/ppt/slides/slide43.xml" Id="R1fd314674cd2419d" /><Relationship Type="http://schemas.openxmlformats.org/officeDocument/2006/relationships/slide" Target="/ppt/slides/slide44.xml" Id="Ra23bfc5821cc4feb" /><Relationship Type="http://schemas.openxmlformats.org/officeDocument/2006/relationships/slide" Target="/ppt/slides/slide45.xml" Id="Rdb9eade520f1476a" /><Relationship Type="http://schemas.openxmlformats.org/officeDocument/2006/relationships/slide" Target="/ppt/slides/slide46.xml" Id="Rd54b963fb3b24a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a5671542f54d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d2813c8c494cb4" /><Relationship Type="http://schemas.openxmlformats.org/officeDocument/2006/relationships/notesMaster" Target="/ppt/notesMasters/notesMaster1.xml" Id="Rb472e3f4cb634b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f82125a3c1430e" /><Relationship Type="http://schemas.openxmlformats.org/officeDocument/2006/relationships/notesMaster" Target="/ppt/notesMasters/notesMaster1.xml" Id="R032c886bd1d84f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1f520a161a4647" /><Relationship Type="http://schemas.openxmlformats.org/officeDocument/2006/relationships/notesMaster" Target="/ppt/notesMasters/notesMaster1.xml" Id="R4cc7aedb285149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9c8df755a54baa" /><Relationship Type="http://schemas.openxmlformats.org/officeDocument/2006/relationships/notesMaster" Target="/ppt/notesMasters/notesMaster1.xml" Id="R2e36e685a77348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5d92111c454fae" /><Relationship Type="http://schemas.openxmlformats.org/officeDocument/2006/relationships/notesMaster" Target="/ppt/notesMasters/notesMaster1.xml" Id="Ra46b75d144f64d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782f63c0d5478b" /><Relationship Type="http://schemas.openxmlformats.org/officeDocument/2006/relationships/notesMaster" Target="/ppt/notesMasters/notesMaster1.xml" Id="R13f743e44b324e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1d9e8766d41e0" /><Relationship Type="http://schemas.openxmlformats.org/officeDocument/2006/relationships/notesMaster" Target="/ppt/notesMasters/notesMaster1.xml" Id="R39ee50ab3bc141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fa189ab47642db" /><Relationship Type="http://schemas.openxmlformats.org/officeDocument/2006/relationships/notesMaster" Target="/ppt/notesMasters/notesMaster1.xml" Id="R1272a0cb476f4b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f8a906a2ab4d1a" /><Relationship Type="http://schemas.openxmlformats.org/officeDocument/2006/relationships/notesMaster" Target="/ppt/notesMasters/notesMaster1.xml" Id="R1355acbd4a2141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bf692f5525461e" /><Relationship Type="http://schemas.openxmlformats.org/officeDocument/2006/relationships/notesMaster" Target="/ppt/notesMasters/notesMaster1.xml" Id="R379d499d82b142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e5ed040ad741b8" /><Relationship Type="http://schemas.openxmlformats.org/officeDocument/2006/relationships/notesMaster" Target="/ppt/notesMasters/notesMaster1.xml" Id="R88e604d3ac854c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3fd9711b7e4b2a" /><Relationship Type="http://schemas.openxmlformats.org/officeDocument/2006/relationships/notesMaster" Target="/ppt/notesMasters/notesMaster1.xml" Id="R4a95d0fdb2f843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5d6cb9e69147fe" /><Relationship Type="http://schemas.openxmlformats.org/officeDocument/2006/relationships/notesMaster" Target="/ppt/notesMasters/notesMaster1.xml" Id="Rd3d20b8263fd43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897633d2b94c54" /><Relationship Type="http://schemas.openxmlformats.org/officeDocument/2006/relationships/notesMaster" Target="/ppt/notesMasters/notesMaster1.xml" Id="R5457e01a3f1f48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14cacc688e4992" /><Relationship Type="http://schemas.openxmlformats.org/officeDocument/2006/relationships/notesMaster" Target="/ppt/notesMasters/notesMaster1.xml" Id="R0e48d648592f4c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250f1b98ce4bc7" /><Relationship Type="http://schemas.openxmlformats.org/officeDocument/2006/relationships/notesMaster" Target="/ppt/notesMasters/notesMaster1.xml" Id="R4b0fbb99727640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43e6c4453f4274" /><Relationship Type="http://schemas.openxmlformats.org/officeDocument/2006/relationships/notesMaster" Target="/ppt/notesMasters/notesMaster1.xml" Id="R4be5d95ec84640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ca3baaa3dc48d5" /><Relationship Type="http://schemas.openxmlformats.org/officeDocument/2006/relationships/notesMaster" Target="/ppt/notesMasters/notesMaster1.xml" Id="R2e6e7929853741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421c33261f45d9" /><Relationship Type="http://schemas.openxmlformats.org/officeDocument/2006/relationships/notesMaster" Target="/ppt/notesMasters/notesMaster1.xml" Id="R7ee171c530514c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9435f192694739" /><Relationship Type="http://schemas.openxmlformats.org/officeDocument/2006/relationships/notesMaster" Target="/ppt/notesMasters/notesMaster1.xml" Id="R701c6755485848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b720da643b94e0a" /><Relationship Type="http://schemas.openxmlformats.org/officeDocument/2006/relationships/notesMaster" Target="/ppt/notesMasters/notesMaster1.xml" Id="R452667b874764e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143df6c10c4a70" /><Relationship Type="http://schemas.openxmlformats.org/officeDocument/2006/relationships/notesMaster" Target="/ppt/notesMasters/notesMaster1.xml" Id="R1e5e5efd4cf244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57d8fca93124d07" /><Relationship Type="http://schemas.openxmlformats.org/officeDocument/2006/relationships/notesMaster" Target="/ppt/notesMasters/notesMaster1.xml" Id="R29b8f4c2702746f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a9054c83b445fe" /><Relationship Type="http://schemas.openxmlformats.org/officeDocument/2006/relationships/notesMaster" Target="/ppt/notesMasters/notesMaster1.xml" Id="Rda4cf034266d48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9d2f53e439b4a9b" /><Relationship Type="http://schemas.openxmlformats.org/officeDocument/2006/relationships/notesMaster" Target="/ppt/notesMasters/notesMaster1.xml" Id="R1b8beef65366491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580d75cae984b2b" /><Relationship Type="http://schemas.openxmlformats.org/officeDocument/2006/relationships/notesMaster" Target="/ppt/notesMasters/notesMaster1.xml" Id="R3a5527e391f941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1984996099b4ed7" /><Relationship Type="http://schemas.openxmlformats.org/officeDocument/2006/relationships/notesMaster" Target="/ppt/notesMasters/notesMaster1.xml" Id="R3eff736e8c384e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f68b5209d624fa3" /><Relationship Type="http://schemas.openxmlformats.org/officeDocument/2006/relationships/notesMaster" Target="/ppt/notesMasters/notesMaster1.xml" Id="Rb3445acd2ef04a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85310c662bb48ff" /><Relationship Type="http://schemas.openxmlformats.org/officeDocument/2006/relationships/notesMaster" Target="/ppt/notesMasters/notesMaster1.xml" Id="Rb011c45c979742e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b42a3176e404cc7" /><Relationship Type="http://schemas.openxmlformats.org/officeDocument/2006/relationships/notesMaster" Target="/ppt/notesMasters/notesMaster1.xml" Id="R85d91001b5544d1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76031e4bfba4958" /><Relationship Type="http://schemas.openxmlformats.org/officeDocument/2006/relationships/notesMaster" Target="/ppt/notesMasters/notesMaster1.xml" Id="R53573eb91c96445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b5046631e514b35" /><Relationship Type="http://schemas.openxmlformats.org/officeDocument/2006/relationships/notesMaster" Target="/ppt/notesMasters/notesMaster1.xml" Id="R9614b1d73dde4b0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4a517ecae4b469f" /><Relationship Type="http://schemas.openxmlformats.org/officeDocument/2006/relationships/notesMaster" Target="/ppt/notesMasters/notesMaster1.xml" Id="Rd00c1da2179a44e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91d803bd0ad4709" /><Relationship Type="http://schemas.openxmlformats.org/officeDocument/2006/relationships/notesMaster" Target="/ppt/notesMasters/notesMaster1.xml" Id="Rb489e188400a451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2b34b9e86084d2a" /><Relationship Type="http://schemas.openxmlformats.org/officeDocument/2006/relationships/notesMaster" Target="/ppt/notesMasters/notesMaster1.xml" Id="Ra38aefc30d7d4be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a6a9367a4e74a4d" /><Relationship Type="http://schemas.openxmlformats.org/officeDocument/2006/relationships/notesMaster" Target="/ppt/notesMasters/notesMaster1.xml" Id="Raaa43f9bdb2048d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1c84c46c074687" /><Relationship Type="http://schemas.openxmlformats.org/officeDocument/2006/relationships/notesMaster" Target="/ppt/notesMasters/notesMaster1.xml" Id="R17b78be2241246a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25df21a94b14898" /><Relationship Type="http://schemas.openxmlformats.org/officeDocument/2006/relationships/notesMaster" Target="/ppt/notesMasters/notesMaster1.xml" Id="Raa8aff56b0db459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ed680d10d914062" /><Relationship Type="http://schemas.openxmlformats.org/officeDocument/2006/relationships/notesMaster" Target="/ppt/notesMasters/notesMaster1.xml" Id="R943dafd2152945a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6208a0285bc4009" /><Relationship Type="http://schemas.openxmlformats.org/officeDocument/2006/relationships/notesMaster" Target="/ppt/notesMasters/notesMaster1.xml" Id="R51f714f668494cf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65735960650491c" /><Relationship Type="http://schemas.openxmlformats.org/officeDocument/2006/relationships/notesMaster" Target="/ppt/notesMasters/notesMaster1.xml" Id="R651fd1498122427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11736c44a6e4cba" /><Relationship Type="http://schemas.openxmlformats.org/officeDocument/2006/relationships/notesMaster" Target="/ppt/notesMasters/notesMaster1.xml" Id="Rff3ea2b267fc48e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3f549093748490f" /><Relationship Type="http://schemas.openxmlformats.org/officeDocument/2006/relationships/notesMaster" Target="/ppt/notesMasters/notesMaster1.xml" Id="R74324911af3c440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617210ebd6b4da5" /><Relationship Type="http://schemas.openxmlformats.org/officeDocument/2006/relationships/notesMaster" Target="/ppt/notesMasters/notesMaster1.xml" Id="R9f1e8d34dd754ce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0e816456cbb4bdf" /><Relationship Type="http://schemas.openxmlformats.org/officeDocument/2006/relationships/notesMaster" Target="/ppt/notesMasters/notesMaster1.xml" Id="R54c8d6f471eb48f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1b3c7cc1bc34eac" /><Relationship Type="http://schemas.openxmlformats.org/officeDocument/2006/relationships/notesMaster" Target="/ppt/notesMasters/notesMaster1.xml" Id="R76ba37e995da4e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langgraph.json</a:t>
            </a:r>
          </a:p>
          <a:p xmlns:a="http://schemas.openxmlformats.org/drawingml/2006/main">
            <a:r>
              <a:t>git rev-parse origin/main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git branch -a -vv; git diff HEAD origin/main; langgraph.json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public_opinion_agents/*.py; data/knowledge/public_opinion/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pyproject.toml; langgraph.json; src/open_deep_research/web/server.py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rg --files src/open_deep_research;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langgraph.json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graphs["Deep Researcher"]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LangGraph 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_create_deep_researcher_builder(); deep_researcher(); research_phase()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Main orchestration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3: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AgentRuntime.run()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Shared role runtime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src/open_deep_research/web/server.py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research()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Build config and stream graph updates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write_research_brief(); plan_report_sections(); research_phase(); compile_final_report()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End-to-end business call chain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2–7; source index in docs/project-learning/sources.md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langgraph.json; web/server.py:research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deep_researcher.py:_create_deep_researcher_builder; deep_researcher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state.py:DeepResearchState; state.py:*_reducer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_create_deep_researcher_builder(); public_opinion_builder; research_phase(); route_after_research_review()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Node and edge definitions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src/open_deep_research/state.py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DeepResearchState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Node read/write domains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src/open_deep_research/state.py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DeepResearchState; workflow_reducer(); agents_reducer(); research_reducer(); report_reducer(); runtime_reducer()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State patch merge mechanism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AgentRuntimeResult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Role runtime output before state 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src/open_deep_research/web/server.py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research()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Creates config and passes it to astream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src/open_deep_research/configuration.py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Configuration.from_runnable_config()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Maps configurable and environment values to business config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src/open_deep_research/memory/context.py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get_conversation_id(); get_user_id()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Memory identity scope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src/open_deep_research/workflow/state_utils.py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resolve_research_run_id()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Per-run Research Graph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langgraph.json; core source files listed below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9–16; deep_researcher.py; state.py; memory/context.py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public_opinion_builder; route_after_research_review()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Graph-based role orchestration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src/open_deep_research/public_opinion_agents/base.py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PublicOpinionAgentSpec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Role-specific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public_opinion_agents/*.py; 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route_after_research_review(); _effective_followup_tasks(); _build_followup_send_payload()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Initial versus targeted follow-up routing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src/open_deep_research/state.py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ResearchTask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True follow-up task fields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AgentRuntime.run()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Shared ReAct lifecycle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src/open_deep_research/runtime/business_agent.py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run_business_agent(); _execute_tool_safely()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Runtime construction and tool execution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src/open_deep_research/state.py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DeepResearchState; AgentRoleState; agents_reducer()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Role-owned serializable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AgentRuntime.run(); format_private_memory()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Per-invocation private ReAct history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research_review; route_after_research_review; Send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18–23; public_opinion_agents; AgentRuntime; state reducers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src/open_deep_research/utils.py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get_all_tools(); get_retrieval_tools()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Tool assembly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src/open_deep_research/runtime/business_agent.py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_business_agent_tools(); _execute_tool_safely()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Role filter and execution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3: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AgentRuntime.run()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Tool-call lifecycle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mcp/domain_filter.py; public_opinion_agents/*.py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src/open_deep_research/mcp/tools.py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load_mcp_tools()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Multi-server build, connect, discovery and fault isolation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src/open_deep_research/mcp/tool_wrapper.py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wrap_mcp_tools()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Name-conflict handling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src/open_deep_research/mcp/tools.py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load_mcp_tools()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Per-server exception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src/open_deep_research/mcp/tool_wrapper.py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wrap_mcp_tools(); prefixed_tool_name()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Explicit tool-name conflict resolution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src/open_deep_research/social_media/tools.py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get_social_media_tools()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Actual in-process tool bundle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docs/guide/social-media-skill.md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social_media_skill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Business-layer naming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_create_deep_researcher_builder()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Graph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src/open_deep_research/runtime/business_agent.py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run_business_agent()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Agent and Tool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3:</a:t>
            </a:r>
          </a:p>
          <a:p xmlns:a="http://schemas.openxmlformats.org/drawingml/2006/main">
            <a:r>
              <a:t>src/open_deep_research/mcp/tools.py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load_mcp_tools()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MCP boundary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25–30; utils.py; mcp/; social_media/tools.py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AgentRuntime.run()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Actual model_messages assembly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src/open_deep_research/research_graph/strategy.py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StandardContextStrategy.before_model(); _ResearchGraphStrategyBase.before_model()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Dynamic context insertion 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3:</a:t>
            </a:r>
          </a:p>
          <a:p xmlns:a="http://schemas.openxmlformats.org/drawingml/2006/main">
            <a:r>
              <a:t>src/open_deep_research/public_opinion_agents/base.py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PublicOpinionAgentSpec.format_system_prompt()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System prompt construction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src/open_deep_research/state.py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DeepResearchState; AgentRoleState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Run-scoped and role-scoped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src/open_deep_research/memory/store.py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MySQLChatMemoryStore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Cross-run raw memory source of truth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3: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deep_researcher()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Production compile has no checkpointer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compile_final_report(); maybe_persist_chat_memory()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Memory write trigger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src/open_deep_research/memory/writer.py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persist_conversation_memory(); trigger_memory_index_refresh()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MySQL write and background indexing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3:</a:t>
            </a:r>
          </a:p>
          <a:p xmlns:a="http://schemas.openxmlformats.org/drawingml/2006/main">
            <a:r>
              <a:t>src/open_deep_research/rag/indexer.py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RAGIndexer.index_pending_memories()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Pending-to-indexed phase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AgentRuntime._compact_history()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Pressure test and compaction trigger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src/open_deep_research/research_graph/compaction.py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rolling_compact(); render_protected_context()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Protected context, summary and recent-step preservation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32–35; AgentRuntime; memory/; research_graph/compaction.py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src/open_deep_research/tools/rag_tool.py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rag_search()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Agent-facing retrieval tool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src/open_deep_research/rag/service.py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RAGPipeline.query()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End-to-end query facade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3:</a:t>
            </a:r>
          </a:p>
          <a:p xmlns:a="http://schemas.openxmlformats.org/drawingml/2006/main">
            <a:r>
              <a:t>src/open_deep_research/rag/retriever.py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HybridChunkRetriever.retrieve(); reciprocal_rank_fusion()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Dense, BM25 and fusion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src/open_deep_research/rag/retriever.py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reciprocal_rank_fusion()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Rank-only dense/BM25 fusion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src/open_deep_research/rag/reranker.py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CrossEncoderReranker.rerank()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Final relevance rerank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src/open_deep_research/rag/graph.py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GraphRAGIndex; Neo4jGraphRAGIndex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Knowledge-index graph expansion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src/open_deep_research/research_graph/workspace.py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ResearchWorkspace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Per-run evidence workspace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src/open_deep_research/public_opinion_agents/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 in four role modules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Role contracts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src/open_deep_research/runtime/business_agent.py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run_business_agent()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Role-to-runtime assembly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3: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research_phase(); compile_final_report()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Workflow and report generation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write_research_brief; plan_report_sections; section_writer; compile_final_report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src/open_deep_research/observability/langsmith.py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correlation_metadata(); node_metadata(); agent_metadata(); trace_span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Execution observability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src/open_deep_research/budget.py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ainvoke_model_with_budget(); filter_tool_calls_for_budget(); estimate_context_tokens()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Usage accounting and budget policy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git log origin/main; selected commits in 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aff29ea; 5989480; 3f0a548 + 5cc29c0; d18c87a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docs/project-learning/source-learning-index.md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Source Learning Index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Complete concept-to-file-to-breakpoint 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Complete deck; docs/project-learning/sources.md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c6980c96f4a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c6f2fd75e4a4e" /><Relationship Type="http://schemas.openxmlformats.org/officeDocument/2006/relationships/slideLayout" Target="/ppt/slideLayouts/slideLayout1.xml" Id="R32a26b84122b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a26b84122b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3f78fb9a14a4a" /><Relationship Type="http://schemas.openxmlformats.org/officeDocument/2006/relationships/notesSlide" Target="/ppt/notesSlides/notesSlide1.xml" Id="Ra6000b99f1b6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c7ca7d4c44f14" /><Relationship Type="http://schemas.openxmlformats.org/officeDocument/2006/relationships/notesSlide" Target="/ppt/notesSlides/notesSlide2.xml" Id="R45fe2600060e40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cb7209e114578" /><Relationship Type="http://schemas.openxmlformats.org/officeDocument/2006/relationships/notesSlide" Target="/ppt/notesSlides/notesSlide3.xml" Id="R4d39865235e844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ab2edf4984d77" /><Relationship Type="http://schemas.openxmlformats.org/officeDocument/2006/relationships/notesSlide" Target="/ppt/notesSlides/notesSlide4.xml" Id="R8bfff0ed9db74b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ef982636b4454" /><Relationship Type="http://schemas.openxmlformats.org/officeDocument/2006/relationships/notesSlide" Target="/ppt/notesSlides/notesSlide5.xml" Id="R46df104c3cba4a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28e2450984615" /><Relationship Type="http://schemas.openxmlformats.org/officeDocument/2006/relationships/notesSlide" Target="/ppt/notesSlides/notesSlide6.xml" Id="R28a8d87b335342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5b564a5964f64" /><Relationship Type="http://schemas.openxmlformats.org/officeDocument/2006/relationships/notesSlide" Target="/ppt/notesSlides/notesSlide7.xml" Id="R2c6c79640c1245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a3822a1cf45f9" /><Relationship Type="http://schemas.openxmlformats.org/officeDocument/2006/relationships/notesSlide" Target="/ppt/notesSlides/notesSlide8.xml" Id="R208baff3290d43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7fa8a31884e65" /><Relationship Type="http://schemas.openxmlformats.org/officeDocument/2006/relationships/notesSlide" Target="/ppt/notesSlides/notesSlide9.xml" Id="R339b8424338f4f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d690b04ca418a" /><Relationship Type="http://schemas.openxmlformats.org/officeDocument/2006/relationships/notesSlide" Target="/ppt/notesSlides/notesSlide10.xml" Id="R9086e6b6400346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06a9ed9ff43cd" /><Relationship Type="http://schemas.openxmlformats.org/officeDocument/2006/relationships/notesSlide" Target="/ppt/notesSlides/notesSlide11.xml" Id="Rf97b8fb0ce8046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68523a63f4d72" /><Relationship Type="http://schemas.openxmlformats.org/officeDocument/2006/relationships/notesSlide" Target="/ppt/notesSlides/notesSlide12.xml" Id="R531ab461d0da41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6d5568e4240a7" /><Relationship Type="http://schemas.openxmlformats.org/officeDocument/2006/relationships/notesSlide" Target="/ppt/notesSlides/notesSlide13.xml" Id="Rcc1238424e8548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a3688a7264345" /><Relationship Type="http://schemas.openxmlformats.org/officeDocument/2006/relationships/notesSlide" Target="/ppt/notesSlides/notesSlide14.xml" Id="Rd3e0d0c1ff1c46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c50ef7a384404" /><Relationship Type="http://schemas.openxmlformats.org/officeDocument/2006/relationships/notesSlide" Target="/ppt/notesSlides/notesSlide15.xml" Id="R5278c7762f864b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3b9eebdaa42ed" /><Relationship Type="http://schemas.openxmlformats.org/officeDocument/2006/relationships/notesSlide" Target="/ppt/notesSlides/notesSlide16.xml" Id="R4e9be04d561e42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2d402edf44cc8" /><Relationship Type="http://schemas.openxmlformats.org/officeDocument/2006/relationships/notesSlide" Target="/ppt/notesSlides/notesSlide17.xml" Id="Rb81af2950a9d4a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f0f346d88467f" /><Relationship Type="http://schemas.openxmlformats.org/officeDocument/2006/relationships/notesSlide" Target="/ppt/notesSlides/notesSlide18.xml" Id="R9272ee302ee14e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aaa820ab04981" /><Relationship Type="http://schemas.openxmlformats.org/officeDocument/2006/relationships/notesSlide" Target="/ppt/notesSlides/notesSlide19.xml" Id="R692f167f571041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4d71a603443d0" /><Relationship Type="http://schemas.openxmlformats.org/officeDocument/2006/relationships/notesSlide" Target="/ppt/notesSlides/notesSlide20.xml" Id="R16da7c466f5243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6b34658f24b0f" /><Relationship Type="http://schemas.openxmlformats.org/officeDocument/2006/relationships/notesSlide" Target="/ppt/notesSlides/notesSlide21.xml" Id="R8a0e671c073c46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82fb8c524404d" /><Relationship Type="http://schemas.openxmlformats.org/officeDocument/2006/relationships/notesSlide" Target="/ppt/notesSlides/notesSlide22.xml" Id="R20de4fc5c0c945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94440c8ac47bf" /><Relationship Type="http://schemas.openxmlformats.org/officeDocument/2006/relationships/notesSlide" Target="/ppt/notesSlides/notesSlide23.xml" Id="Re48c2e0ff8b24bf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832d8187a4e7d" /><Relationship Type="http://schemas.openxmlformats.org/officeDocument/2006/relationships/notesSlide" Target="/ppt/notesSlides/notesSlide24.xml" Id="Rdfd72bb4c7d044e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ca8748ced462d" /><Relationship Type="http://schemas.openxmlformats.org/officeDocument/2006/relationships/notesSlide" Target="/ppt/notesSlides/notesSlide25.xml" Id="Rcebed1ee39f94b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5c02594f6402e" /><Relationship Type="http://schemas.openxmlformats.org/officeDocument/2006/relationships/notesSlide" Target="/ppt/notesSlides/notesSlide26.xml" Id="Rbf601a5cc9034a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7600f9e0749a8" /><Relationship Type="http://schemas.openxmlformats.org/officeDocument/2006/relationships/notesSlide" Target="/ppt/notesSlides/notesSlide27.xml" Id="Ra3e5e7fc0da542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93bd7d72d4890" /><Relationship Type="http://schemas.openxmlformats.org/officeDocument/2006/relationships/notesSlide" Target="/ppt/notesSlides/notesSlide28.xml" Id="R16af9fadb42a44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529711a774531" /><Relationship Type="http://schemas.openxmlformats.org/officeDocument/2006/relationships/notesSlide" Target="/ppt/notesSlides/notesSlide29.xml" Id="R15f5c1597d4b44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1885fbbf464d" /><Relationship Type="http://schemas.openxmlformats.org/officeDocument/2006/relationships/notesSlide" Target="/ppt/notesSlides/notesSlide30.xml" Id="R1f7d1d8a7de048b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c53dde3bb4ee0" /><Relationship Type="http://schemas.openxmlformats.org/officeDocument/2006/relationships/notesSlide" Target="/ppt/notesSlides/notesSlide31.xml" Id="R8805466b201a4ed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35e8982ff4b3f" /><Relationship Type="http://schemas.openxmlformats.org/officeDocument/2006/relationships/notesSlide" Target="/ppt/notesSlides/notesSlide32.xml" Id="R40800ed346f74c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432f47b284179" /><Relationship Type="http://schemas.openxmlformats.org/officeDocument/2006/relationships/notesSlide" Target="/ppt/notesSlides/notesSlide33.xml" Id="Rf9f6bbda91104b9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e7d31d32248f4" /><Relationship Type="http://schemas.openxmlformats.org/officeDocument/2006/relationships/notesSlide" Target="/ppt/notesSlides/notesSlide34.xml" Id="Rdce901b65c414dd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e339040ac49c0" /><Relationship Type="http://schemas.openxmlformats.org/officeDocument/2006/relationships/notesSlide" Target="/ppt/notesSlides/notesSlide35.xml" Id="R317ee7c603344e0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5657840e6452e" /><Relationship Type="http://schemas.openxmlformats.org/officeDocument/2006/relationships/notesSlide" Target="/ppt/notesSlides/notesSlide36.xml" Id="Rea4275823c0c422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bc46617384b8c" /><Relationship Type="http://schemas.openxmlformats.org/officeDocument/2006/relationships/notesSlide" Target="/ppt/notesSlides/notesSlide37.xml" Id="R2f74712ad4ac494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1146ba3a0407f" /><Relationship Type="http://schemas.openxmlformats.org/officeDocument/2006/relationships/notesSlide" Target="/ppt/notesSlides/notesSlide38.xml" Id="R87b45ca87ad6488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63a1ae4e84a17" /><Relationship Type="http://schemas.openxmlformats.org/officeDocument/2006/relationships/notesSlide" Target="/ppt/notesSlides/notesSlide39.xml" Id="R61e9306f3ad1462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4e39f4f8f4ecd" /><Relationship Type="http://schemas.openxmlformats.org/officeDocument/2006/relationships/notesSlide" Target="/ppt/notesSlides/notesSlide40.xml" Id="R467bae6f9b9b410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7ed968fb5430f" /><Relationship Type="http://schemas.openxmlformats.org/officeDocument/2006/relationships/notesSlide" Target="/ppt/notesSlides/notesSlide41.xml" Id="R0321cc2be7d742b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45c15e4954ecd" /><Relationship Type="http://schemas.openxmlformats.org/officeDocument/2006/relationships/notesSlide" Target="/ppt/notesSlides/notesSlide42.xml" Id="R033c071a8d4c4a8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e157a45114c74" /><Relationship Type="http://schemas.openxmlformats.org/officeDocument/2006/relationships/notesSlide" Target="/ppt/notesSlides/notesSlide43.xml" Id="R904608911aa642c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e3016578f4ec4" /><Relationship Type="http://schemas.openxmlformats.org/officeDocument/2006/relationships/notesSlide" Target="/ppt/notesSlides/notesSlide44.xml" Id="R6af7077b92034ff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e31c6b57a411a" /><Relationship Type="http://schemas.openxmlformats.org/officeDocument/2006/relationships/notesSlide" Target="/ppt/notesSlides/notesSlide45.xml" Id="R272a17eef3684fc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032e97c0949e4" /><Relationship Type="http://schemas.openxmlformats.org/officeDocument/2006/relationships/notesSlide" Target="/ppt/notesSlides/notesSlide46.xml" Id="Rc0252c7f6d8348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C85C58-0E77-4CD0-940D-0E719A5F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3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SOURCE CODE / ARCHITECTURE / GIT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86B0E-4016-4152-B3C4-8A7A9951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企业舆情风险智能体平台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6004C-F17E-4A7F-91A9-B5678EE3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8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源码与架构学习手册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88588-631B-4662-9941-8BA84BEE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CBD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2D8"/>
                </a:solidFill>
                <a:latin typeface="Microsoft YaHei"/>
                <a:ea typeface="Microsoft YaHei"/>
                <a:cs typeface="Microsoft YaHei"/>
              </a:rPr>
              <a:t>从一次请求出发，理解 LangGraph、Multi-Agent、Memory、MCP、RAG 与 Observability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03C7A-B94A-44DD-A7F2-EF57EB64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0957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46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05CD2-8AEB-45A4-86C4-14017C20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5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0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代码基线  origin/main @ 12e2f0e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D033E-C4B5-44EB-AD08-16F227F0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9CA7B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CA7B2"/>
                </a:solidFill>
                <a:latin typeface="Consolas"/>
                <a:ea typeface="Consolas"/>
                <a:cs typeface="Consolas"/>
              </a:rPr>
              <a:t>46 slides · 2026-09-22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349DD-CB78-4723-9F06-B8FFE9E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D1B9E-F7F9-4D47-A7C0-BDC1336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43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FA492-06EA-4A7B-8E6A-CB924318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815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9AD76-9D15-4F93-833C-024E93C4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43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C37CE-CE46-4E8A-A1AC-0E42BAB2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815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D982B-D96B-4432-BF08-F12690EB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43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079BE-F825-42E4-A8BE-0609BCC1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3815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33912-3A9F-4232-8A16-47CD8337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543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B17A6-937A-473F-B3EA-9472750E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01E52-3E59-45B6-8391-F344FF1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E2E5D-4A92-4400-8D09-2F2BF01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BB6B1-FC24-41B6-8480-A314D7AB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816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8CE75-B47D-4F57-BA9C-2DE1D419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197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75C28-AA26-45AD-A4BC-5DD57F4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816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165EF-2D45-48D8-BFA2-B994FC7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2197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A66FA-45DF-4915-9921-BC4BC06B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816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670197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BA0C2-EAE4-42F2-8648-08189FE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00 /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64597-78E7-415E-8C6B-83874001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阅读基线与事实边界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E3B02-E92F-4FC5-99C0-06F03589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9F5B7-2E48-4314-965D-4E2E69BA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git branch -a -vv; git diff HEAD origin/main; langgraph.json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09943-DB94-4C3C-9A04-40F17781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D4DBE-A90C-47B4-A595-2D93FA0A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默认主分支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022CF-1714-4C2D-8C0D-B7462447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origin/main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C3E9F-EABC-4A07-ABF3-C271908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12e2f0e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E93B3-F875-4F37-9205-4E1C630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142875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CB2BB-AEB2-4033-B6D2-DC4D05F1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当前工作树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3A4D5-AD50-4677-8255-C497A48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6572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FBF40-3467-4BA5-8091-18FAC46D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D17F4-0F2B-42AC-82F0-AC930003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24075"/>
            <a:ext cx="6172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HEAD     41f180b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branch   codex/retire-legacy-package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diff     HEAD..origin/main = empty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5A82B-ED7E-4EEF-B9C1-6AE5E6AD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状态标签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FB466-021F-4549-AB7F-F0BE318C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14287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14E06-4EE6-4BEE-91BD-676F4590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29075"/>
            <a:ext cx="1276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2584C-CCAC-4294-9786-ECAAE603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719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生产路径可达，代码与测试均有证据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49870-80AB-4E65-89A3-AB5CDF37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14287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D0174-12CE-4F53-BF98-C806AF1A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05325"/>
            <a:ext cx="1276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28DC3-2263-4A56-B4B0-790999C7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481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实现存在，但需要配置或外部基础设施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78CDF-85B9-40AC-8C66-CF3D5E46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33950"/>
            <a:ext cx="14287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E79B5-B0B8-467A-9A50-0B334072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81575"/>
            <a:ext cx="1276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NOT WIRED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1C7D9-14E1-4F24-82A8-68B1CAF7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24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仅测试、文档或残留命名，不在生产默认图</a:t>
            </a:r>
          </a:p>
        </p:txBody>
      </p:sp>
    </p:spTree>
    <p:extLst>
      <p:ext uri="{BB962C8B-B14F-4D97-AF65-F5344CB8AC3E}">
        <p14:creationId xmlns:p14="http://schemas.microsoft.com/office/powerpoint/2010/main" val="1587542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1F117-696E-40A3-A58A-801074B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1D6A1-4B8F-42E8-99A0-909FB635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系统解决的业务问题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CC550-97A7-4736-AD43-2456EF7A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92E99-690E-4628-8BDC-B16B3CC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public_opinion_agents/*.py; data/knowledge/public_opinion/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9CC72-C10A-497B-A012-626A6452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C37A7-42B2-4956-9EAD-8BCAC0A7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企业面对的不是“搜到多少网页”，而是能否把公开信号与内部事实对齐，并形成可审计的风险判断和应对方案。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CD15C-1F19-4E78-A616-AC8F9A29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00025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AF1AF-FB0A-4049-AD18-C3F5393F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8132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研究请求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C25BD-FE29-482D-B4F0-F10BFF93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276600"/>
            <a:ext cx="1771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组织 / 产品 / 事件 / 地域 / 时间窗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0D6F0-D521-4A30-A584-295A6E97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09550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86220-82AE-4476-9AD8-54C48827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813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双源证据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90141-C906-4DB8-9C06-38678AD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76600"/>
            <a:ext cx="1866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公开信号 + 内部知识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B0139-EE83-472E-B35A-99B549BA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209550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F7E8D-4F46-4C7F-8D1A-9EE17281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813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88598-115D-4A50-A2A7-9704BF1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76600"/>
            <a:ext cx="1866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claim status + risk register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0192A-F6B2-4352-9265-D7274857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57500"/>
            <a:ext cx="209550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E9205-C504-4B97-AA6E-02F46A7E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813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响应输出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3882F-546D-4690-B860-438E19D4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76600"/>
            <a:ext cx="1866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posture / FAQ / action / monitoring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B75F1-6FAB-4726-B8AB-EAF3302B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核心约束：区分事实、指控、传言、解释和建议；保留来源与不确定性。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02CEC-C507-4524-8B29-120DBEB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340518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9C51C-2A94-4BFD-AF9B-6966AD81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90900" y="3362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A4887-3587-4EE1-88C8-8B471001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72125" y="340518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9C847-53FF-48FF-A78E-0652326B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53150" y="3362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6A873-C0E6-425F-8B2C-EE4B793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340518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31805-3BEC-4CE3-A1D4-DA7CC580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15400" y="3362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58293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C0CE35-0105-4DE3-A501-A6901D1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26015-D2FF-419C-94B7-3AB4EA1C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运行入口与技术栈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4E830-8CBD-4C50-B68B-1F75B193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383B6-0C35-4720-97DE-779998D9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pyproject.toml; langgraph.json; src/open_deep_research/web/server.py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ED17E-85A6-439D-A30C-324D02B7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6A9A2-0F44-402C-B12C-E65F5DD9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4000500" cy="40957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D5F98-9A04-43AF-A228-2B78A260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57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3FBF1-E6E4-4EAF-AA6B-CBA2BC18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6004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LangGraph API / Studio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langgraph.json → deep_researcher()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FastAPI Web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POST /api/research → graph.astream()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Console scripts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deep-research-web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social-media-mcp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apify-social-api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8D414-5846-4378-9F73-7D46AD62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763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A3F95-67B9-4AD2-8328-38777AA9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763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LangGraph ≥ 0.5.4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1779A-2565-49EE-A0BA-E84A781E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186690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02418-72BF-4220-8F42-E40AB304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193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Agent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C5DA6-8679-4BB3-AD7F-9CC2AA66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19300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LangChain Core 1.2.x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B683A-C341-471F-A74F-73C78C42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2409825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CA184-98E6-4EEB-B6E4-327F7E6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622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D9E89-F2C3-49A4-B002-B50A92DC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622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OpenAI / Anthropic / DeepSeek / Google / Groq / AWS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7CF32-CED8-46AB-BF94-16B9199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295275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A2BD2-CBA3-4657-A5C3-A616850A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DEF3F-918F-4A0C-9544-B5C01554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05150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Tavily + native search + local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6F70A-3668-4C05-B244-8C39EA4A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3495675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1C9F8-8EE8-4CB9-B012-4638F8F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480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B3623-9D77-4592-B27B-4788BB0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480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Milvus / FAISS / Chroma / MySQL / Neo4j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EFB33-AD17-4C96-9B55-4A740FDA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403860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C8CD4-4CE5-401D-A0EF-B007BA41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A4877-CFA8-4FD4-81B4-B46869C9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MCP adapters + MCP 1.9+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726E6-4C8A-4916-B884-79A2CB18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4581525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89403E-7546-489E-9008-356B9D15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339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Web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3DF9F-9AA8-459E-AEB9-598DB2A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33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FastAPI + SSE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17F39-4C72-4557-B9E0-FE99145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512445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7BF3F-95FD-4798-B2F7-B470D8FE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94126-92E4-4CE6-930E-CE126394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76850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LangSmith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62FA4-37AB-47E0-A850-C5E3E74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5667375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6410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7C2A8-FDC1-4282-8268-647C4D32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06D78-E25C-4ECC-BBA2-C275AA87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当前目录地图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DC187-D8BF-48C9-9AF9-1340B110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8AA5C-5F74-4FE0-A77B-B5A71211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rg --files src/open_deep_research; 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08FD8-034D-4166-B862-A66C18F9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0011F-89AC-4B4C-8AA4-080449E0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42925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4FDF6-750F-46E9-80FE-5DC7FBAD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7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27162-9EE1-46A8-8AB6-4C48C3F3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50292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src/open_deep_research/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deep_researcher.py   # 主图与舆情子图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state.py             # 五域 State + reducers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runtime/             # 共享 AgentRuntime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public_opinion_agents/ # 四个角色合同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research_graph/      # 每次 run 的证据图与工作区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rag/                 # 知识库索引与检索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memory/              # MySQL 长期记忆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mcp/                 # 多 Server 工具接入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observability/       # LangSmith 边界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social_media/        # 进程内社媒工具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└─ web/                 # FastAPI + 静态前端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ACA27-D74A-403D-A7BB-34BAC1EA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先读 deep_researcher.py：图是什么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再读 state.py：数据怎样合并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接着读 runtime/：Agent 怎样循环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按问题进入 mcp/、rag/、memory/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README 的 skills/ 目录当前不存在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773AA-0838-41C9-A080-6DB1350F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44767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C2231-F3B3-4921-ABC6-A4F66118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530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5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目录名只是线索；PPT 中的结论都回到调用关系与测试验证。</a:t>
            </a:r>
          </a:p>
        </p:txBody>
      </p:sp>
    </p:spTree>
    <p:extLst>
      <p:ext uri="{BB962C8B-B14F-4D97-AF65-F5344CB8AC3E}">
        <p14:creationId xmlns:p14="http://schemas.microsoft.com/office/powerpoint/2010/main" val="526827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EFC95-E23B-4A16-8213-77711493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5DFFA-8E7F-4CE8-BD7E-7CD91DFF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当前总体架构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9265A-F420-4A18-A481-11D2598A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3247C-19D7-42B1-A43F-AFD18964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deep_researcher.py; runtime/business_agent.py; utils.py; rag/service.py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2BD1B-1B61-4D5F-935D-C0C93513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FB247F-CBE6-47F9-920B-8FF621E0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78105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FB9BB1-42DC-45BF-A235-7DC17AE9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ENTRY LAYER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0FCE36-F121-4974-854C-CE74994E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66850"/>
            <a:ext cx="576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6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Studio / LangGraph API    ·    FastAPI Web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FCDFA3-7B33-4465-B76D-2442261C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576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langgraph.json · web/server.py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89059C-84B0-466B-BA78-04335214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20288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36E847-CB22-40C5-82FB-0BCB3896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38650" y="20859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CCC584-50D0-4DA6-A94C-75995C2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78105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D4D216-C2C4-4F3F-8EB2-89F640FD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ORCHESTRATION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520AA2-EA3F-4745-8176-57B45EBF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47900"/>
            <a:ext cx="576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6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DeepResearch Graph    ·    Public Opinion Subgraph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111B5B-F5F4-4D0A-852E-D54B7C49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576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7C9642-F302-4A56-AA6E-C5D31EBC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28098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8727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7E7566-5911-4976-8E23-8D59B497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38650" y="2867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17ED04-CD84-447D-A1C3-90DC15F9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78105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C50478-60AD-4B0F-A064-1AA0A236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AGENT RUNTIME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E39225-7E2A-43D8-B353-72D169B5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576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6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PublicOpinionAgentSpec    ·    run_business_agent    ·    AgentRuntime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943049-BA9B-4AA7-927B-54EEF2EB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576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public_opinion_agents/ · runtime/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F0878A-94D7-4DE7-9F9C-200085B4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35909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8727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0D8D87-6AA7-4194-912B-94DDE292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38650" y="36480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C250CE-C34A-4F40-9259-B69EE7B6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78105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B3C629-7F23-40E1-B8AF-CA5E9EF0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CAPABILITY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8DE6B7-96F8-4479-8E6B-9F38179A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10000"/>
            <a:ext cx="576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6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   ·    MCP    ·    Web Search    ·    RAG    ·    Social Media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8A2ABC-660E-41CD-A4F0-D004918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576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utils.py · mcp/ · rag/ · social_media/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E45A83-2F27-4E43-90B5-DCDB9714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43719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8727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96D9D4-2A44-4F14-8271-9AAA347C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38650" y="44291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9FC8BA-79F7-4B45-9BE9-4423CC77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5325"/>
            <a:ext cx="78105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622CAB-20E7-459A-A6B4-991A604B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CONTEXT &amp; DATA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B0EDD2-DFE8-4F5D-8D83-21013AD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576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6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State / Config / Memory / Research Graph / MySQL / Milvus / Neo4j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951C14-55F8-47EC-B1C8-C1C1A4A3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576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state.py · configuration.py · memory/ · research_graph/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5BCD15-037D-45B0-B0FC-9A4FF64C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78105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59E065-3778-4D19-A09E-4CC4CF11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747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OBSERVABILITY 横跨所有层：LangSmith trace + budget.py usage policy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F2E9ED-0249-45BA-915B-9567B8CD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857500" cy="4257675"/>
          </a:xfrm>
          <a:prstGeom xmlns:a="http://schemas.openxmlformats.org/drawingml/2006/main" prst="roundRect">
            <a:avLst>
              <a:gd name="adj" fmla="val 233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C93BE8-10A5-4A88-BBEC-B59DEB5C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CC6AAC-985D-466E-B1AE-809531A5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71675"/>
            <a:ext cx="238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9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langgraph.json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→ graph 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→ deep_researcher()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→ _create_deep_researcher_builder()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runtime/business_agent.py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→ run_business_agent()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runtime/agent_runtime.py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9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→ AgentRuntime.run()</a:t>
            </a:r>
          </a:p>
        </p:txBody>
      </p:sp>
    </p:spTree>
    <p:extLst>
      <p:ext uri="{BB962C8B-B14F-4D97-AF65-F5344CB8AC3E}">
        <p14:creationId xmlns:p14="http://schemas.microsoft.com/office/powerpoint/2010/main" val="877875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38C96B-72D2-44CC-9516-2F655806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9EC25-B386-4BF1-BA1F-3DB797B5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一次请求的鸟瞰流程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DE0B4-8CCF-4AF3-9B9D-DDF8461E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F0653-6598-49FE-A1B9-FC31A9D3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web/server.py:research; deep_researcher.py; runtime/agent_runtime.py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4FB3E-A704-4DE6-8737-E14158E5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381E18-E00A-4A6C-B787-CE173FB2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76375"/>
            <a:ext cx="2476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1753F1-C54E-4A19-93FE-8A9FF6D8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81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7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 HTTP Request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90F75A-9A13-404A-8621-BEFE2FBE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573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1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web/server.py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5C9E90-B124-46DE-9708-7A70B624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33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   topic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OUT  initial_state + config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B717A4-E591-43BF-B827-91610402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21621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4A1EEF-5BA0-4126-A250-63EC83AC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57550" y="21240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0B5156-6A75-4501-9A7C-B05CC57F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2476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0C8330-C20F-47C9-BC04-DB645D6D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81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7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 Graph Stream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DFDDCD-D4D5-436E-B634-AE6B2BEB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573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1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Pregel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astream()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1609CB-7052-457D-8CC5-5903458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   initial_state + config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OUT  node updates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315B26-5FAC-4578-B1FE-2A0E1894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21621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32C147-7698-4FE9-8143-943C8704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62675" y="21240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F4F83E-ACF9-45F3-9E7B-86B93AF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76375"/>
            <a:ext cx="2476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1B7F2A-5460-4076-BCC8-776E0B2B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81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7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 Brief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B4B9BB-3E4F-45FF-AB44-B9407F2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573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write_research_brief()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7E024E-8F7F-44B4-B392-1F9A5D3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33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   messages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OUT  workflow.brief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A510A7-4634-41AA-9DD8-38C10866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15375" y="21621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B60E62-DC00-44C5-8D18-6B2638EF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67800" y="21240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557C2E-19F4-4195-94ED-A9BCCA58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76375"/>
            <a:ext cx="2476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9AAF9F-75B8-493C-BA2E-DC0CECB5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81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7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 Plan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7513D9-7325-4A38-AEB3-B4D89CA9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573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plan_report_sections()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0181FB-5961-485B-B267-979CC539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33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   workflow.brief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OUT  report.sections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219FFC-274D-4C9E-9CCF-A58CFAFC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286125"/>
            <a:ext cx="2476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EB3E14-98ED-44B8-ADBA-C3CFAFB0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909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7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  Research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08DE05-63BE-4ECC-9B2B-248E0211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67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research_phase()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66EEBE-331D-4A97-AD11-7AB67C03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43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   workflow + runtime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OUT  agents + research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1AA468-7167-432D-9DCC-A72CF4EF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39719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47CA7C-8299-48EF-9D35-0F656ED1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57550" y="39338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2DAC04-4F13-405D-AD07-7EEF6180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86125"/>
            <a:ext cx="2476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F062D8-D43B-48C6-B2B2-5AC02EEA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909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7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 Agent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ABCC8E-1295-4760-9BB7-82E7382F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67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run_business_agent()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A99D78-1D24-4DC9-BEC8-EF24D959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43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   role + state + config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OUT  state patch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32960E4-6C1A-49AF-B704-2ADFCC70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39719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2F6B85-55CD-4045-982C-091EAD1C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62675" y="39338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62E62F1-8E12-4B08-9EBC-F0665F9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2476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3DA8FC9-4EDA-4347-B2AA-8DA4DC4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909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7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  Runtime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C4306E-E610-41B8-A65A-E39AE2AB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67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AgentRuntime.run()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4AC1FB6-F39C-4377-93C7-1120175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43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   assignment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OUT  AgentRuntimeResult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FDAF64-3EC4-4726-A9B2-B496577F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15375" y="39719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8EB0A7-C5F1-44E6-8C84-59D7F2C7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67800" y="39338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33611D-3EAD-48F4-98A2-5C37A065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86125"/>
            <a:ext cx="2476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919A79-E8A0-4B6E-BC67-0F7B4EBE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909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7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08  Report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0AADEB-CF9E-4648-9C4C-26DA1968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67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compile_final_report()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746B5AA-617F-43E8-AA49-6A90A8EF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43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   completed_sections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OUT  report.final + AIMessage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7A8B4B5-47D8-408B-B881-F6CBFA45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0" y="28575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8727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F062F1C-F6BF-459C-A023-C75657BA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666875" y="3143250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8727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C44D16C-FB3C-4F7F-B9AC-788DD73D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314325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8727D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66D6808-4ACC-4717-B7E5-F563C6DC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8775" y="32099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04CA30-503E-4DB2-8658-9F28AB82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F9B51F9-9F4C-44FA-B637-D6D1C31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READ NEXT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2CFCC5-D020-4ADF-9711-9EDF58EC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721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web/server.py → research()   /   deep_researcher.py → research_phase()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1CB08C4-A019-404B-843A-96CC5FDE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2927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观察：config · state updates · report.final</a:t>
            </a:r>
          </a:p>
        </p:txBody>
      </p:sp>
    </p:spTree>
    <p:extLst>
      <p:ext uri="{BB962C8B-B14F-4D97-AF65-F5344CB8AC3E}">
        <p14:creationId xmlns:p14="http://schemas.microsoft.com/office/powerpoint/2010/main" val="1338089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6924A-16E8-4950-BF22-B3D91746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62625-B485-4987-99A5-61C6B3DB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项目全貌学习检查点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24265-CB84-44EE-BE95-77278744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E683F-9B6D-4D70-ADF6-4CDED777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2–7; source index in docs/project-learning/sources.md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F267F-7FEE-431F-8A87-E7EB05BC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FEB23-AC9B-4777-89BF-6B1443B4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1F04B-8F2A-462B-AE32-54A95F38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AA71E-9F56-466E-A379-3256B309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90413-516E-4FA0-8845-585A0C6D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默认主分支、当前 HEAD 和真实入口分别是什么？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CA21A-1B64-4DE6-BEC1-33FFEDD3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8F2EF-E6CD-4854-A41E-F7D19855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A87F2-3258-4EA7-A1A8-1DC5BB9B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 Graph 与舆情子图如何嵌套？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BD2C5-4756-4B24-9E0D-89038A8A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EDFAA-9053-4EC6-9F0C-A661681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F2736-D619-43C4-9A0C-9A49F222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哪些基础设施默认启用，哪些必须显式配置？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386EC-C5D5-4F71-8058-8EAADE59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C08C5-C373-419E-8592-4CE84B07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6AAEB-56AA-4664-8E7A-3E70C235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目录中哪个模块负责流程，哪个模块负责 Agent 循环？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6FA81-89CD-402A-843D-999144D1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5D0CB-B84C-42C7-BBF6-1BDF7027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D4C85-9855-478A-8571-F3AFC59E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系统的业务产出为什么不等同于搜索摘要？</a:t>
            </a:r>
          </a:p>
        </p:txBody>
      </p:sp>
    </p:spTree>
    <p:extLst>
      <p:ext uri="{BB962C8B-B14F-4D97-AF65-F5344CB8AC3E}">
        <p14:creationId xmlns:p14="http://schemas.microsoft.com/office/powerpoint/2010/main" val="1166764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D420B-296E-45F4-B3AE-EF906069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8913C-9D78-49D6-A84E-51F70564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两条外部调用入口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7213D-5293-4293-9FBD-B8C97A18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73178-19A7-449D-B288-762E5D4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langgraph.json; web/server.py:research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92F14-26C8-4597-BCF8-2AA5D8C4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3FC5C-287C-4880-9D55-4EFF05C6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LangGraph API / 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1826A-2DAE-4F02-832A-E9F0A467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8B4D3-423A-4095-AB18-94D787BF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188B9-3188-4376-B0FF-C3D2254D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43624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graphs["Deep Researcher"]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= deep_researcher.py:deep_researcher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graph = factory(config)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await graph.ainvoke(input, config)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51C45-E690-42E5-AF05-75085F3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FastAPI 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61A9A-C6CE-4400-AFD7-F8F2B51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FD3B9-BA9B-4877-80DA-07802DF0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183D5-074C-45D0-815A-1AB1C254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24075"/>
            <a:ext cx="43624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POST /api/research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create thread_id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config["configurable"]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graph.astream(..., "updates")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SSE status / stream / report / usage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6FE8B-07AB-469E-A336-6F5CDE8E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两条入口最终都调用同一个原生 Pregel；Web 入口额外负责校验、并发限制、SSE 和使用量回传。</a:t>
            </a:r>
          </a:p>
        </p:txBody>
      </p:sp>
    </p:spTree>
    <p:extLst>
      <p:ext uri="{BB962C8B-B14F-4D97-AF65-F5344CB8AC3E}">
        <p14:creationId xmlns:p14="http://schemas.microsoft.com/office/powerpoint/2010/main" val="18825297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8962D-2AC9-4183-A37B-B109A73B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FE3C1-47F4-46FF-967E-9A2E3B6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主 Graph 的创建与编译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1B7A6-9582-49E4-815C-7D50698F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B225F-F1CA-4878-B5D8-05F83926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deep_researcher.py:_create_deep_researcher_builder; deep_researcher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A9F14-721C-4BDB-AE19-EE6E68A9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B2EE7-99B5-46B5-AF0E-6C2463E3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72B7F-D7D6-476A-BE38-5A35CBE9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F6116-73FE-4724-9020-C30C6A61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43075"/>
            <a:ext cx="44577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builder = StateGraph(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DeepResearchState,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input=AgentInputState,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config_schema=Configuration,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return builder.compile(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name="public_opinion_research"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EC274-481B-4438-BBA4-18836B17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模块加载时保留 deep_researcher_builder，供测试和工具使用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导出的 deep_researcher 是 factory，每次调用重新 compile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config 参数不直接注入 factory；节点从 RunnableConfig 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生产 compile 没有传 checkpointer 或 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2C708-9122-408A-82C3-AF8D680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4953000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DC671-3895-403A-BC62-6A0AF2A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00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3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可打断点：_create_deep_researcher_builder() → deep_researcher()</a:t>
            </a:r>
          </a:p>
        </p:txBody>
      </p:sp>
    </p:spTree>
    <p:extLst>
      <p:ext uri="{BB962C8B-B14F-4D97-AF65-F5344CB8AC3E}">
        <p14:creationId xmlns:p14="http://schemas.microsoft.com/office/powerpoint/2010/main" val="18754139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25963-61F8-4A38-B0D1-37BEEB6F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0E986-D6EE-4354-9F3A-F65567DC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State 的五个所有权域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91599-A03D-4DBA-8C0F-74DEFD73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800DC-86C6-421F-91A6-BD43987E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state.py:DeepResearchState; state.py:*_reducer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9957A-543C-457A-9A1C-1E8DA69C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08E0C-E75E-4310-8B14-1B981187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7B3D7-D9A8-438F-9782-53D63A5D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33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CE39E-9297-40AD-B309-DBC468A0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LangGraph native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EDAFE-EAE1-48E0-A3A9-0707D437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对话与最终 AIMessage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8612C-2DC6-4ECA-A81A-3C352D14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C0814-3C8F-4B47-9F1F-A7D5B98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33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4B36E-9E08-46FF-9F08-9436DA4D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brief / round / review /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E30DD-DB52-45BE-A155-51DEB790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流程控制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EC764-EBF5-4EFC-B518-8259C9B2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9B994-C192-4D62-96B5-79C1BB67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33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68435-49BC-48A5-8BC1-9D5E8732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role report / memory /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6FBE0-67D2-4D49-B58D-87764749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按角色合并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35AFC-8C17-42B1-AF52-E057FC26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88BFD-7562-4A45-A61D-521FE158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1E2BA-A2F4-4B0B-BB85-63C73B18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run_id / working_contexts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ED002-B451-4158-8DCB-A79C309D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研究图上下文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41294-C8AA-4A31-A74E-B89D8384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84D76-182F-4048-B2D2-2A6450B0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82982-19C4-4991-89A8-8F0EC67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4337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sections / completed / final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CFF02-0577-46F4-8108-69DF0A1F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写作产物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1C0342-33F9-4965-BA29-89E7EB18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D04BC-7DBC-4A98-8D85-5E231212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5C8C76-914D-4BDB-943C-56638265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4337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budget / metrics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B9E6E2-1D40-40DE-88C1-D6D1FB6C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72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累计运行数据</a:t>
            </a:r>
          </a:p>
        </p:txBody>
      </p:sp>
    </p:spTree>
    <p:extLst>
      <p:ext uri="{BB962C8B-B14F-4D97-AF65-F5344CB8AC3E}">
        <p14:creationId xmlns:p14="http://schemas.microsoft.com/office/powerpoint/2010/main" val="3782433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A7CBD1-AEB0-42E4-9C9A-0C0A9F2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95D5A-FE83-4662-B29D-60ED9642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 LangGraph 节点与边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595A2-5B06-4BD2-83E6-2D23B4B6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14A50-A063-4C21-A6E3-A6B0FE98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deep_researcher.py:1562–1640; public_opinion_builder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52D7D-5CF9-41C6-85B7-152CC8D6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76B54E-9C9D-4270-AD64-46671F25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MAIN GRAPH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C55D61-76FF-4E11-90C6-DA74C66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66875"/>
            <a:ext cx="166687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725B58-893F-45BC-9E3B-393AB349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clarify_with_user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BDAF5B-71A8-49A6-9279-31017F54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clarify_with_user()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72FAF3-DDD5-4F0F-9EA7-3BDF1240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7875" y="2066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06F2CD-96A8-4CDC-8C80-B019B932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28850" y="20288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E32E85-6A80-47FF-BEB0-A8D5240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66875"/>
            <a:ext cx="166687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39629C-9118-4846-B02B-5DF7292C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621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write_research_brief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197BF7-D35C-48F3-BED0-05C2AB81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47875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write_research_brief()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6C197C-0905-46F6-9A6C-27B6A734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71925" y="2066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F1F97C-C10B-4D0E-BADF-D52DE14A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52900" y="20288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4F35B1-CCB7-4471-B87C-A1102BB7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66875"/>
            <a:ext cx="166687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03BAD5-CFFA-48F0-ABC2-6F6489C1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621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5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plan_report_sections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E7FDA7-6203-4C05-BE1B-E3FD42C6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plan_report_sections()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9BC127-E613-4FC0-9359-71B267BD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95975" y="2066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F1AFEB-E9D4-4169-8DD8-27E65129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76950" y="20288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FEF975-1241-4FFA-A7FA-4EACA6D2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66875"/>
            <a:ext cx="166687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F3B9B29-B1FF-4C86-BAE9-1B7F962F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621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research_phase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EF6441-3491-45F4-B079-183A10E4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research_phase()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06BAE5-FDE1-4DBF-B1B6-730FB34C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20025" y="2066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D08F6A2-E2A9-4041-ABDB-9E0E52A4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01000" y="20288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10548D-DC39-4A1C-864D-F66AC672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166687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E43EB1-0229-47E2-AEF8-FD5D3802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section_writer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E8EB4A-72C3-4757-8E84-67449562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section_writer()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25423D-B2F9-48FC-BF3E-3410D44C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44075" y="2066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B10AAB-AC3C-4664-B2CB-5328B892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25050" y="20288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FD28C4-18C4-4CD1-89F9-E7924AA7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66875"/>
            <a:ext cx="1666875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71019D-5FE1-45CF-AE3C-A4C98CD2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621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0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compile_final_report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0D79CAF-7572-4586-966B-F098E9E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47875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4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compile_final_report()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BB6F6F2-0429-4FEA-BDCD-E8594BCC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6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PUBLIC OPINION SUBGRAPH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4A5056-64D4-4072-9AD4-7971F8D4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952625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38D9207-AAC7-4AF9-B9B1-3F2A5F3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33750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public_signal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743A5AF-0D71-4C4B-AD30-C2769DE3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public_signal_agent()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AC5B8A7-C5D6-468C-8039-C8365101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38500"/>
            <a:ext cx="1952625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999283F-2D96-4BA8-9E10-43994DB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internal_knowledge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52665E2-CEC9-4BA5-BE01-0341F913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1950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internal_knowledge_agent()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1A6153F-16D3-44C6-9D65-3C902D3F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1952625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ABF3D01-E278-4D3F-86A5-4A0A0BA0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33750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research_review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3289D5-4126-4A5E-A8F1-6A67C089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1950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research_review()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4D38A36-2503-4EE6-8E34-5608CD5E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952625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858B4FD-94F1-45E7-843F-016C356F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33750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risk_assessment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B55A97-464F-4F84-BA36-615842E3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risk_assessment_agent()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0D033F-AF31-4243-8958-12B33DE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0"/>
            <a:ext cx="1952625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98F0774-9F31-4091-AFE7-6F06C73A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333750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response_strategy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987CCB5-1EEE-40CC-99C6-70A4E665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1950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response_strategy_agent()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A224E9-12E7-42CC-A38F-0E4B1DAC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36766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4C8AC13-8D11-4C38-851C-6CBCDB45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33750" y="347662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1AACF4F-50BA-446E-A9F0-3F106BF1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3476625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0108E69-B5AA-4DBB-85D3-4F82BB25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24425" y="3438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ADB6B27-923A-42E1-8569-E3C93B3F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36766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26B3C1-91D2-47B5-92CD-FDB58049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36766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C704648-67FB-4D90-8071-ACA288C0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3876675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131CCE6-91B9-4C4D-AB4C-23B7F2D0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24425" y="38385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A4F5CB9-5A28-43B1-99BD-6E6B26CC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53250" y="3676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6114CE0-79E7-4F11-8FC7-E6A36DBF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2800" y="36385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69A1E0-6F6C-464B-8679-B23260A7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1625" y="36766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9A59774-49D7-4E95-8FED-5954B49B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01175" y="36385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4C12C14-C5D7-410C-8637-C0A9408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10906125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6609CFB-FF2D-437E-A3DB-FD45E236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Reads / Writes（摘要）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EB743C0-726B-49F4-A9C6-BF943228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2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research_phase  READS workflow, agents, report, runtime  ·  WRITES workflow, agents, research, runtime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research_review READS workflow, agents, research              ·  WRITES workflow.review, runtime.metrics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1CD8A3-DC57-469C-B494-C944909E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0890E09-C45D-46ED-87F0-C8604314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B68ABE5-8E75-498A-A49F-4756E74A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1022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 → _create_deep_researcher_builder() / public_opinion_builder / route_after_research_review()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26B55E7-D33D-4994-B332-CFD07568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67400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观察：node function · reads · writes</a:t>
            </a:r>
          </a:p>
        </p:txBody>
      </p:sp>
    </p:spTree>
    <p:extLst>
      <p:ext uri="{BB962C8B-B14F-4D97-AF65-F5344CB8AC3E}">
        <p14:creationId xmlns:p14="http://schemas.microsoft.com/office/powerpoint/2010/main" val="1781990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A61084-8582-43D6-94CC-B2C1A10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FE077-3EC6-48D5-A28A-35B92AC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一次请求的完整调用链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D302E-8D42-4451-971D-E8EDD136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9C730-383B-4DBD-8E6E-BE907A7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web/server.py; deep_researcher.py; runtime/business_agent.py; runtime/agent_runtime.py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0EB32-D608-425A-81D0-D06BEB76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8D2F45-126C-4805-8EA6-35FAF4CE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9167C1-22C9-4CBE-A684-4C64FBF5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240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ResearchRequest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905A71-9C78-4951-9AF3-DB1A4277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7875" y="1714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520A2B-9D99-4E20-B7E2-E9F4D9D9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16764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EC937F-ACBA-4A4A-A3F9-1707D07D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55DDD7-8867-4D71-82F7-541E5813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240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server.research()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F37110-B9D1-403C-9521-7A306B32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1714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C452A5-6366-4132-8EF6-C29D6E96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62425" y="16764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F57710-F690-498D-BE9D-5AC095F4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2875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806612-0FAA-489D-A384-300FC5F1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240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graph.astream()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835CD7-3C10-417C-8AB5-CE904C9B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57875" y="1714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6EDC57-7622-43E8-AB4C-2FABF7A5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67425" y="16764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71BF89-6F49-4BAA-BD95-507FBFBF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2875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CB6D5B-F2AA-4385-8FAB-080DC3F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write_research_brief()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63EDBB-59EE-430E-AD96-2673EBB5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1714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A01A0C-E72C-4969-B9AC-14382299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72425" y="16764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1D0353-B810-4E55-AD5E-BD0DE895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2875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DA4379-2DB4-4D9A-AFDC-222BE695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240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62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plan_report_sections()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0B50F1-4C74-421C-822E-FC4C6BB1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67875" y="1714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1F20A1-0B3E-4C1E-B9C8-6D8ECFE4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77425" y="16764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33E099C-4508-42F7-AAC4-754BD3C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42875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7C8BDD-0C9A-46B1-A739-246E2267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52400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research_phase()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C2A763-B748-406C-BCB3-AFE17B1C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06125" y="20002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7DAE036-D979-4938-8E9D-EC3F4541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38250" y="2286000"/>
            <a:ext cx="966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27BD42-655F-4F3D-81E0-5AB15099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22860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F0E0FF9-D9A2-4C64-8A8E-E5CDCBB3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00150" y="25908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E37F6D-69F4-4820-8E30-74E17436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670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4AB2593-DF55-4B56-BB97-51178198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62250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run_business_agent()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5329EFF-DBE1-43D6-A6BF-03B75AC6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29527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D42EF69-1CC6-460E-9478-F656B647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90700" y="2914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660046-043C-4983-B5F0-48FDE8B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670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0C495C1-A248-4FF6-A969-180F7CFD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62250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27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AgentRuntime.run()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F99E9B2-9527-4EAB-B7C1-5FDDB8A2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05150" y="29527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5C7C1C-0975-4697-AEF2-18692EC8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28975" y="2914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CF7141-3012-4CE5-AC29-EA6E7920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670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C75CB6-0C45-491E-B12A-5A680FDF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62250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LLM ↔ Tool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467B908-4684-4D4D-93EA-E69AC853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43425" y="29527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A6A5BD-584A-43CA-AB0D-EC6ACACD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67250" y="2914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EA7CD0-AAF5-4AD0-A457-748EE6C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670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AD0C5CA-3BC1-4839-8BE9-20B5CBBB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59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AgentRuntimeResult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43AE2B3-8FFD-4C67-A256-BCC3D735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81700" y="29527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43A0209-A940-4098-B0A0-9B9B890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05525" y="2914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F3EC630-A96D-4738-BCA6-9824F19D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670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333DC35-CD4C-4505-AB12-785B6240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62250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State Patch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D7EF90-B4EB-4F0E-827E-50F041F9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19975" y="29527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CACB2DE-5971-4E58-AE43-E3C6F042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43800" y="2914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66CAF39-0E5A-4E3D-A2D1-C9961F23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955525D-EC79-47A5-8107-D4C08854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Next Node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8CAFB25-3194-4422-9005-46BCEA17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29527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90CBAF-844F-4D3E-9241-2DACB9C3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82075" y="2914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628A283-804A-4FB6-9410-A187F71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670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DFBCE86-3A06-4CBC-8940-92F1A3BD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62250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31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section_writer()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561F8DB-252E-4226-BD33-9929E6CB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96525" y="29527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4DBA2D3-D704-4694-86A1-90579213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420350" y="2914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94539A7-1516-4153-B244-6179C13A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67000"/>
            <a:ext cx="1238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4B0E657-DF68-422D-8B37-A9426CA1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62250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84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compile_final_report()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0AD0248-5691-4667-8D8E-BA8667B3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104900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76BD869-911C-425F-80C0-977900A5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31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STATE REDUCERS：State Patch merge 时运行，不是业务节点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4BAC7BF-B977-4DE0-9F98-2C9BF86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messages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CC320BC-1945-4969-AFBA-7ADEC53A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44767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978C717-6487-4E52-A8F0-262054C6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47925" y="4438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60EA36D-582B-4824-A68A-9F1D1FC6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52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workflow_reducer()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CBBCC6A-60FF-4F2C-9B92-C14FAD82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5750" y="44767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267DCD-E383-4B2A-A478-7EE75983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10050" y="4438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558A9E1-B08C-4DB5-9BDB-CCAEBD3E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52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agents_reducer()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7EA860F-2F04-426D-A0A5-F5803C81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57875" y="44767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FFFBB87-1DE3-41DD-A59B-6287647C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72175" y="4438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5B27BD6-BC9E-48C6-A4E9-E93E5F3A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52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research_reducer()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B1E15FE-7818-426B-8A85-318E777F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44767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8760290-7F15-4A7B-95A4-DB88F651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34300" y="4438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C94770B-105A-4222-9BBC-5EC986B9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52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report_reducer()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78E018F-ABB9-4111-B649-CEE40787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82125" y="44767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7482E98-5F2B-4E1E-89BF-5F2FE5C7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96425" y="4438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8C32BDF-5B5A-47B6-8098-D9BC1C2C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52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runtime_reducer()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052EA63-6E9D-466F-84E4-45FF4441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2EC3610-5D2C-4CFF-B1F9-B129C654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C134B8B-A89A-4B16-A43E-595FF016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673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state.py → DeepResearchState + *_reducer   /   runtime/agent_runtime.py → AgentRuntimeResult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3709EFB-FEDE-43F8-84BA-0C00E497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观察：current_value · new_value · override token</a:t>
            </a:r>
          </a:p>
        </p:txBody>
      </p:sp>
    </p:spTree>
    <p:extLst>
      <p:ext uri="{BB962C8B-B14F-4D97-AF65-F5344CB8AC3E}">
        <p14:creationId xmlns:p14="http://schemas.microsoft.com/office/powerpoint/2010/main" val="16448204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D45C6-1350-45BD-B8FE-69154553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7CB0B-543C-488F-ADE5-CD8F5149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RunnableConfig 的来源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1BFD6-E891-4CCF-B7EB-EEAF049F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ABEFF-FBAE-4EE5-BA24-C2498E8F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web/server.py:research; configuration.py:Configuration.from_runnable_config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A8EC4-7F41-4CA7-A698-EFB08D20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2ED3D-1B19-4D1B-8166-75678CB7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5524500" cy="3524250"/>
          </a:xfrm>
          <a:prstGeom xmlns:a="http://schemas.openxmlformats.org/drawingml/2006/main" prst="roundRect">
            <a:avLst>
              <a:gd name="adj" fmla="val 1892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711C3-6C85-452F-8D31-A20DCED5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E3F0B-FB45-4A03-B369-7EB561A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516255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thread_id = uuid.uuid4().hex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config = {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"configurable": {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"thread_id": thread_id,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"research_model": request.model,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"search_api": request.search_api,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"rag_enabled": request.rag_enabled,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...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},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"metadata": correlation_metadata(...),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async for chunk in _deep_researcher_factory(config).astream(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initial_state, config, stream_mode="updates"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):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2598B-57EA-49AF-9E77-AFB1DB4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286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47ED3-4486-4AF4-9D2F-2356FA3A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76375"/>
            <a:ext cx="405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调用方创建 Python dict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608E5-09F0-4595-86E7-830CA897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0625" y="18383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E3CBA-E811-411A-A074-69583ECA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72525" y="1914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5065F-BF89-479A-A8EF-6251DC1B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90725"/>
            <a:ext cx="4286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D0D9C-CF93-49F2-BF9F-2D65CC26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85975"/>
            <a:ext cx="405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graph.astream(..., config)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9E738-1817-410B-B1EC-DF1C09E5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0625" y="24479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435BE-475E-4A23-94E2-C20B7F18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72525" y="25241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2AC1C0-864D-4E3B-B69D-361FA176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0325"/>
            <a:ext cx="4286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83600-2EE8-40F7-9F91-3E12AF18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95575"/>
            <a:ext cx="405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LangGraph runtime 透传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C4822-1130-4E93-B773-2B6C31B7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0625" y="30575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CDB91-7F26-49E7-BA8B-47EBEB0E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72525" y="31337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CE1B85-B795-414B-9470-9C8679E0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9925"/>
            <a:ext cx="4286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2688D0-9B32-46AA-BABE-724AE5FF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05175"/>
            <a:ext cx="405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Node(state, config: RunnableConfig)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4637EF-3CF3-4AD0-8B28-625979C9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0625" y="36671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68B7A-9151-496A-BA3B-3D697495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72525" y="37433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E28FD5-60C7-43B0-9D95-5D56298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4286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E443FF-E833-48DE-9177-315C977C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14775"/>
            <a:ext cx="405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Configuration.from_runnable_config(config)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54314-92BE-4FDB-8BA6-3CEF0A46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00525"/>
            <a:ext cx="40576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config["configurable"] + ENV override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C39D78-FC80-461C-A635-A63070EF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10625" y="4276725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FDCC9-1659-4A16-B660-A4C7979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72525" y="43529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CDF174-E79C-4E44-B3E6-9CEE9D27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4286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2F0B74-5EEF-4BDB-8044-7C9B601C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24375"/>
            <a:ext cx="4057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Pydantic Configuration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7B29B6-332E-4F6B-BB9D-25152169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1042987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E41BF8-F525-461E-81F9-29D5CDEB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62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学习时注意：RunnableConfig 是一次运行的外部参数；DeepResearchState 是节点之间传递的业务数据。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D078E5-5AD8-43F6-975A-BE2D1C93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2B00D4-96D2-4F49-9106-FC1D691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BREAKPOINT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C34372-A0DA-4900-AA6C-1E285B91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0547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web/server.py → research()   /   configuration.py → Configuration.from_runnable_config()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3F3BB-9B76-44AB-98BB-349B80C2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62650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观察：config · configurable · values</a:t>
            </a:r>
          </a:p>
        </p:txBody>
      </p:sp>
    </p:spTree>
    <p:extLst>
      <p:ext uri="{BB962C8B-B14F-4D97-AF65-F5344CB8AC3E}">
        <p14:creationId xmlns:p14="http://schemas.microsoft.com/office/powerpoint/2010/main" val="12893696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3282B-4C10-4BA6-92DF-EF1D9170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BE983-1DC8-41D8-9879-F2A5708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thread_id、user_id 与 research_run_id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57AAF-02ED-4B66-830A-D0785B8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4CCF2-B5E4-4A83-81ED-79A442C4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memory/context.py; workflow/state_utils.py:resolve_research_run_id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FD0EB-987D-488C-AB48-A2E33AFB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64BB5-AB1D-4C8C-B313-76849E18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SCOPE / LIFETIME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A134A9-082E-4C53-8E70-F42B3118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81025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1C715-23CC-4E94-B6C5-6F45809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USER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1110B-8B27-41E4-B40F-D008EDF1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FB9499-75A5-4776-84A2-FD8A3D1C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86000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user_id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E7B36-D61F-4017-98A9-C3D107A4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71750"/>
            <a:ext cx="1581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optional; cross-conversation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850F0-AC88-4117-8907-980EA6C2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2743200"/>
            <a:ext cx="0" cy="1590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E5EBC1-93B8-482C-BDC5-74A6CF46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1163A-14C7-407A-9B54-87C8E97C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40005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E3460-2C77-4696-81CC-2CCC9F79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2571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AF139-2C68-4AE8-A3DD-D3E35F57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52750"/>
            <a:ext cx="2343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Conversation 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A1BA2F-9776-4D36-A1B8-D5DB48A9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2343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conversation_id → thread_id fallback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CAB334-22B2-4D27-92C3-6448DA4C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2571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F0CC22-B823-4C8A-B361-4FB3FAEF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2343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Conversation 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6D5093-6B60-44E8-B552-9049104C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95750"/>
            <a:ext cx="2343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32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new Web request gets a new thread_id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5B12EF-4464-4F55-BDB9-F12547D4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33875" y="3448050"/>
            <a:ext cx="0" cy="1076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3823A6-A96A-4F69-822B-10E545E3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95775" y="44481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E27426-CDBD-4305-96EB-E7F7AD4F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24375"/>
            <a:ext cx="2000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877518-ED72-4DA3-BEF3-D93A41A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1962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research_run_id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8DFDD6-EA74-44B7-A830-3E0074D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05375"/>
            <a:ext cx="17716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 → config → metadata → uuid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3805EB-B836-4F76-9C1A-B425B803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47625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5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B60016-EC88-4D80-81ED-C222CADD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3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7A6929-0AC1-47A1-8FD9-8979F4E7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用户级过滤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DEEB27-D029-45A3-95A2-410B9D57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145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memory/context.py → get_user_id()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1C72DF-58DD-4046-B464-4408A88E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3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thread_id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37F10E-FF89-4FE3-9FE9-5F440285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会话 / resume 标识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7800C6-AFE9-455B-80E8-FD4585B2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194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web/server.py 生成；memory 作为 fallback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C7479D-3478-4017-8A29-BA7CD8D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62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3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research_run_id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597164-95AB-472A-8ECF-BE55BB6C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一次 research_phase 的证据图范围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FB7D33-D92B-49AD-8868-8081EFD4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243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resolve_research_run_id()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896FB8-F134-45B5-A6E4-FBAC1201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29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0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当前 Web 每次 POST 创建新的 thread_id；research_run_id 通常回退为该 thread_id。代码也允许调用方显式传 research_run_id。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25C380-96ED-4837-AB93-4168E2F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95F287-8FF7-44C3-AA2D-0957C296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B661E1-A5D1-4764-AAD9-327265DA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673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memory/context.py → get_conversation_id() / get_user_id()   ·   workflow/state_utils.py → resolve_research_run_id()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8CDB8A-53D9-4C64-B706-B115E204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观察：conversation_id · thread_id · user_id · research_run_id</a:t>
            </a:r>
          </a:p>
        </p:txBody>
      </p:sp>
    </p:spTree>
    <p:extLst>
      <p:ext uri="{BB962C8B-B14F-4D97-AF65-F5344CB8AC3E}">
        <p14:creationId xmlns:p14="http://schemas.microsoft.com/office/powerpoint/2010/main" val="482527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BFB083-2D33-4E40-B049-5EC0FF29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9914E-A2CD-4DE3-B4BC-50EC63EC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断点式源码追踪路线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058E2-02B8-404A-92E8-151F0209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111A5-58CA-44F1-BDDE-3F35AAB2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langgraph.json; core source files listed below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4F1BC-1419-45EC-8062-36D4B464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9F87D-D2C3-4C84-9550-E3B44924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6133F-896B-479C-99AE-8638E0DD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62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web/server.py:research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7DDCE-27E0-4F30-8384-7A05A85E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62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看 config 和 initial_state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E2535-DE03-4443-ADB9-E8AB75C2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1752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301BC-DA79-4C91-8FEE-E6A2CCE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1192F-8AB7-46F1-B6F0-E38024F4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deep_researcher.py:deep_researcher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99010-DA51-47DF-BE8C-72F9986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288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看 graph factory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1E443-C2AE-40E0-9431-85487773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24193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BA0D9-5A4E-4A2B-B192-2A2930AB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26D93-5827-4F82-85D4-267AA687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955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write_research_brief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4368D-C5F4-4EF9-BEC8-B3C43A03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955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看 State Command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FD8AF-BF44-4A03-91B2-E008F8FE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30861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C0144-9C24-46B5-A47C-A5476604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9ADF3-ABF1-4739-A2F7-ECB7A3B7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623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0DC91-9FE3-4166-9C46-5C2F945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62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进入子图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63757-E5BA-41A5-BB21-0A3920C2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3752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28831-685A-4EAB-B0AE-109E3DF6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2EFC68-A8A9-4D7A-89AB-F9E83C9E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29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run_business_agent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ED771-24FA-404D-A550-B40DAF5E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29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组装 spec、tools、workspace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56F84-3013-4DB5-B5AA-D57ECEB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4419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B388D-2A30-41B4-B57E-8A275355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6D166-ACA8-4976-AD28-D9077341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95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AgentRuntime.run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9C0870-FF14-4259-841A-A60F1FDD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 model_messages / tool_calls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DDC70-76D8-41B6-AEF7-85EE8473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50863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1EEDF-0CC1-48AA-AAD7-0C613F80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AF419E-D1B0-469C-8D89-2CAB642C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compile_final_report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C2FFB8-3958-4DE4-81FB-75A8FD02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625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看最终 report.final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FEB210-47B6-4C68-9D2A-AD5887C3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57531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06902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0767A-288B-47D4-A06F-F4AB9ED1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1430C-A3AA-49D8-8D68-8A5C31D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主流程学习检查点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50A61-615C-45D3-8DEA-10BD8220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5AAD9-CD1B-4194-9F3B-DC3BAC29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9–16; deep_researcher.py; state.py; memory/context.py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9D32A-2E3A-4145-8ED7-AFC2237A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7AD2E-A984-4C8C-A1A1-0DB9451A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49E69-1A98-45B8-9F7B-21811544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57BBF-911F-43CB-961E-EDBA7948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7BB92-C08E-4C04-813E-5B525A9E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生产环境的 Graph factory 为什么每次重新 compile？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891FA-91A0-467C-9334-73A1A6AA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FAB81-A9A6-43D4-9072-5B2B2F7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84E16-A936-402A-B05B-592F148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State 的五个业务域如何在并行更新时避免覆盖？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AFD2C-D229-430F-AECF-5A69179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A516E-205E-4F05-BAAB-12D3D2C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E9392-11F8-4F9B-A6D5-E58305C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RunnableConfig 是谁构造、由谁读取的？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DCA63-824D-43BF-820E-88C597A2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495D3-8F5E-47AE-B810-072A3CB3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24697-DF12-42A7-9548-9E04DDC3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thread_id、user_id 和 research_run_id 分别隔离什么？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BB269-94CC-4D33-8BA1-82F764F1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3AB36-A190-43FF-9435-71256FC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8936E-3E02-4BA0-8567-200644F1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当前生产 Graph 是否自动持久化 checkpoint？</a:t>
            </a:r>
          </a:p>
        </p:txBody>
      </p:sp>
    </p:spTree>
    <p:extLst>
      <p:ext uri="{BB962C8B-B14F-4D97-AF65-F5344CB8AC3E}">
        <p14:creationId xmlns:p14="http://schemas.microsoft.com/office/powerpoint/2010/main" val="16099490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6F7EB-1E28-4063-87D4-44ABCDEC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CD1E7-4FE0-4B62-B064-D397E0C5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 Multi-Agent 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22704-C452-472A-A1F2-93A0D238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CE7B6-58B7-4FF9-81A3-B4312BE5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deep_researcher.py:public_opinion_builder; public_opinion_agents/base.py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318B8-2D75-4FF1-A1D1-61BA0D56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4E1A9-A9D2-4AA0-8070-F1EDEF79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8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结论：图编排的角色工作流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CA38A-B3C2-4029-86AE-645D1C31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5905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4A30C-A4BE-4400-BF1F-418173A5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7170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GRAPH DECIDES MOST TRANSITIONS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B7386-ADC0-45CA-AACE-8021C232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8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9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9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7A9CD-3A03-4809-81A5-89E5ED50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4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FD49D-979C-47A6-916F-A9B42183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95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8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9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9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public_signal ∥ internal_knowledge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F47EA-1630-4242-B7C3-A58EA740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4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136EC-FD42-455B-8DD5-3BCE4960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8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9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9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AA3FE-49AD-4CE5-BA93-E547468D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4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8AE91-88E0-46F8-813A-2CEB3F17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8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9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9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conditional Send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515BC-4478-4FDD-8260-8DCE21CF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4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F28833-7CC0-4CCF-A1E3-56CBD3D4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67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8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9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9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risk_assessment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A2A43D-3095-49E8-9F38-AE3A3AC7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4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84838E-1409-4651-9683-5F66B3CF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8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9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9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response_strategy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BF68D-7CD3-4EF1-9F47-F414C1B5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4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5BAEC-8941-4DE6-BF2F-32F7716D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8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9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9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B047F-C0C4-402D-8B8B-F4533B57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28750"/>
            <a:ext cx="46196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F62E61-3C94-4678-9846-E4B9A7D9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为什么不是 Supervisor Swarm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3FA083-91CF-4563-86CC-3804DBE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4000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没有 Supervisor LLM 任意挑选下一个角色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四个角色共享一个 DeepResearchState schema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首次并行与后续串行由 add_edge 固定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只有 ResearchReview 的结构化 next_tasks 触发 Send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每个 AgentSpec 独立 Prompt、Tool domain 与私有上下文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E9DBAF-7AC5-4F0F-A510-64F5899E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100137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8CA450-F387-44BD-B3D4-D487CE7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00650"/>
            <a:ext cx="1062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62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学习时注意：多个角色 ≠ 多个完全独立程序；角色仍由一个显式 Graph 编排。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3B62ED-7199-4064-AA12-3BB3BC8C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576666-A917-4B59-952E-3C7EDD37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EFB71-0673-4361-B0AA-5343E1B6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0547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 → public_opinion_builder / route_after_research_review()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C4922B-2D54-4636-B7D4-08322E5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62650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观察：review.next_tasks · Send(...) · fixed edges</a:t>
            </a:r>
          </a:p>
        </p:txBody>
      </p:sp>
    </p:spTree>
    <p:extLst>
      <p:ext uri="{BB962C8B-B14F-4D97-AF65-F5344CB8AC3E}">
        <p14:creationId xmlns:p14="http://schemas.microsoft.com/office/powerpoint/2010/main" val="8475296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6C3033-9636-4A47-B7AD-80E97A1E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061E1-8139-4CD9-BFC7-8BECAF16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四个 Agent 的职责合同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C533A-7BE1-46B4-BEEA-B4CB259C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41FEA-273D-40C3-A642-0F28DBDF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public_opinion_agents/*.py; registry.py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FD421-BC93-40F8-A1CE-1DA5C251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AF075-43CE-4A46-BF10-A97202A9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1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572F3-7D89-4D51-A4CD-E8C9D90D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1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C4D93-0C9C-4524-8329-54554598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1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Allowed domains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40024-33B6-422C-9955-2494F87A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763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1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Context 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C3B08-935E-489A-A04B-EFC8BA53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11144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9ADD6-25C6-4AA4-9104-C6F6AE74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F8DC6-1E8D-42C4-83CB-3279C055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公开信号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A98EF-C2BF-4D62-BE7C-52411828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core · web · social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EBBFA-55EA-43F4-91A4-E0643D3B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producer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75DEF-7923-4B56-B23E-E909BA73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5241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77EF0-26BD-4EBF-AF14-9E0B7F88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670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internal_knowledge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B8FBE-F77C-40A1-B808-DB227097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670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内部事实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5B041-2874-45D6-8FCE-D7B02954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core · rag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710BB-A545-464C-B10A-C36382B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670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producer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317E6-340B-4BF8-BEC2-B9F9B96C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4385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063E1-EB01-49A5-A82D-72C2F52F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1144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5EA03-E9AC-48D0-8855-BA67599D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risk_assessment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C173B-4226-43BC-B029-5D08D566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证据门禁与风险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FD935-2AB9-498D-A3C8-E73E323B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core · web · rag · social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7407D-C287-4016-8CF8-1617D2F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814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consumer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6D7CE0-6A84-4971-B842-12E124FF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529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BBF47-40FB-4C58-A989-1E0E770A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response_strategy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CAEF5-7AB3-42F2-B89B-16F8A5CA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958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响应方案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DA0E9-10C4-415C-9346-D4D15D60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core · rag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30BB58-9728-4724-B62D-B2F3DB8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958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consumer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B1CAB0-9E03-49C2-9EB6-346C1544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2673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5FD1F-A27F-4306-89E4-9CD75E6D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每个 AgentSpec 还包含 input_contract、output_schema、tool_policy、memory_policy、execution_strategy 和 handoff_policy。</a:t>
            </a:r>
          </a:p>
        </p:txBody>
      </p:sp>
    </p:spTree>
    <p:extLst>
      <p:ext uri="{BB962C8B-B14F-4D97-AF65-F5344CB8AC3E}">
        <p14:creationId xmlns:p14="http://schemas.microsoft.com/office/powerpoint/2010/main" val="14701215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0AB863-BE35-4464-A117-E5D8807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AB629-961F-4F3E-B55E-BEA54A6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 协作图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093A5-AF7A-43DB-8BF3-85E1DFD1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B0AA7-7A07-455E-8AF6-62EA50D0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deep_researcher.py:public_opinion_builder; route_after_research_review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E4370-8DE6-419A-BDDB-1CAA3785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A827A-8191-4D0D-B45C-2B43747D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ROUND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740BC8-EE5F-4361-A0A5-4E0FBF3D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FOLLOW-UP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EFF80-4492-472B-90F3-FE3425A9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1435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6F7A24-A43F-404D-A7F0-86C24DE6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809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FE5F7F-C444-4AA0-8E4D-31D64713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95500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START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9AF5AC-82EE-429A-B8A8-42F1A7D1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812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9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StateGraph fan-out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9E9B22-F949-483F-AD90-9B2B1CE5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1905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45644D-4B5F-4E83-8B90-C98412EE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0500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public_signal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9197A-5E4E-4D73-979F-4D9429CE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907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9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initial assignment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569B6C-4AC9-4633-B889-636DC521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1905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AD1D7D-6088-4DE4-A8F3-993D291A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527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internal_knowledge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04A3CB-BAC0-4314-9291-49E49E68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385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9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initial assignment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845152-6521-4326-934A-57A1C271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48125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B3C024-8A51-4B3D-9831-4F560319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1433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research_review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DD8F2F-AB43-45C3-8019-DF684DC1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291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9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waits for both roles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315AA0-8FB9-4421-A140-3D5BF686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14625" y="23336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A043A5-D7BC-4A9C-B9B4-AD7A5EC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43250" y="214312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00CEC4-9FB0-4948-B542-B3E7538A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1431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5A82C1-AEDF-4248-B5EB-28647223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00425" y="2105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199606-3840-4BD6-9A29-0F490EB7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14625" y="23336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CC5E1A-93E2-4275-A610-722BC686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3336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1F46CA-C4A1-482D-BF74-3F4A8C23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31908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CEA453-DCFE-4139-86E1-A587A950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00425" y="3152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36CDCD-849B-4FD2-9F64-B79467B7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9125" y="247650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CE1CE4-E5EA-44FD-91B6-FE8035A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190875" y="3810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D7E2EE-A05C-439B-82FF-BEB10477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90875" y="38100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757F7A-C201-41F3-91B0-29A38487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152775" y="39719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5FD910-91DD-4A67-A5F0-E9CB9A00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9125" y="35242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F4833C-32BB-49D0-8FD4-982ECBB4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391025" y="37338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4ADF24-4110-40F6-A670-D186680F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5191125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AB1887-1CD6-4C52-9CAD-46AE78AC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1714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7422CA-2793-4110-AF0F-2732F932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4787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Review gap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6903F8-C164-4E83-BAA5-5C5CC54B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33625"/>
            <a:ext cx="1485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837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ResearchTask[]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AB25B1-DD0B-451F-B1C9-79F3D29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000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D3E3D2-63A0-4A2A-A5C4-6E5E344C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4787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Send(...) 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FBC1F9-9574-4B3E-AB1E-CF4C982D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33625"/>
            <a:ext cx="177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837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targeted Agent state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B31C01-C08C-43ED-B7D2-5955759C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9625" y="224790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55DF94-E85B-4C45-BD09-F15005E9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63050" y="22098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5A669E-142F-4051-8192-BCB0D9B6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4524375" cy="1857375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A39DB76-3651-4EE2-8D74-2B977CAC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571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16AD70-5D24-4E1B-A806-7786705F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09900"/>
            <a:ext cx="41624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8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pending_tasks[]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task_id,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target_role,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objective,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evidence_needed,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reason,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priority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payload also carries: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5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5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messages / workflow / agents / research / report / runtime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1FCA3F-F847-45DC-86B2-1D1E934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6A4230-77CE-4A5E-AD1E-7EF74677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BREAKPOINT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F273347-E159-4478-BE5A-8449750A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721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 → route_after_research_review() / _build_followup_send_payload()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B9DEE4-BC16-41A1-ADB1-8A82870A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2927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观察：review.next_tasks · effective_tasks · grouped_tasks · Send payload</a:t>
            </a:r>
          </a:p>
        </p:txBody>
      </p:sp>
    </p:spTree>
    <p:extLst>
      <p:ext uri="{BB962C8B-B14F-4D97-AF65-F5344CB8AC3E}">
        <p14:creationId xmlns:p14="http://schemas.microsoft.com/office/powerpoint/2010/main" val="13284706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45155E-BF3A-4BAE-B377-526FB793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E0B43-6603-4508-A29C-012B66F7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共享 AgentRuntime 的 ReAct 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AFC4E-7D19-4CCA-843F-7F40F7F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3A21F-556F-4702-9E61-B7A4A1F6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runtime/agent_runtime.py:AgentRuntime.run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76A75-8E14-4FC3-AA43-FC3DC4C9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7CE6C-EB80-429D-B868-715E998E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AgentRuntime.run(task)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895C82-D29B-4D39-8327-7C294BB3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5143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85F2C8-623D-4557-A970-1A5B6B93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812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599660-4E2F-4FC3-B446-F33148D7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050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messages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79BBA2-2400-47ED-BFA6-5A8ECFE6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9547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[HumanMessage(task)] + optional private memory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C961A6-7EDD-4996-A439-5285F145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143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ABACF9-0906-46F3-B113-5B816435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7F7C34-BC5D-45AA-B6C1-4C3A17DB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model_messages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1021B4-F5B7-4CF8-869D-61CCC37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9547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SystemMessage + workspace.before_model(messages)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56F2D3-30D9-4B53-8976-F223CBB4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90800"/>
            <a:ext cx="5143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D73B2F-69AC-4D91-BA26-081EE3A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FE58F0-68AB-4D74-8CA9-7A391AFD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860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response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D941E2-F98E-40DC-9C51-CC67AD25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7652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await ainvoke_model_with_budget(self.model, ...)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E1AB5C-6775-4875-AF57-C97D3353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5143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725102-EE5C-4EFE-8932-FC93D354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62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26B502-E513-4F56-9093-1B27A561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tool_calls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8A0FA4-E723-4B65-9449-07DEB28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7652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list(getattr(response, "tool_calls", []) or [])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468577-B12A-45B5-8364-7B6C95A7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5143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B42479-5E82-4749-96F7-105EA5C8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43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79C885-4104-4856-AA98-055C86F2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671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allowed / skipped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67C8EF-7314-42C0-8F1A-0B30AD81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5757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filter_tool_calls_for_budget(...)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F4B248-E8AE-477B-957D-A79B9A4F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5143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E15D5A-14B9-4A0B-8EBB-7B0DB17C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DC8F1B-1BFA-48DE-B442-E2059BA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results / batch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EE5394-5562-4DDA-8B0E-A826131E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5757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asyncio.gather → ToolMessage → ToolBatchItem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324915-E21A-4EE4-A484-14E34371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52900"/>
            <a:ext cx="5143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C3ECDC-52D3-466E-9640-386E28CA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243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8835E5-3AEE-402D-B663-565DAD4B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481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hook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DB5AB2-CE71-4D21-B09E-E477BE2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3862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workspace.ingest(messages, batch)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5F1786-9EE1-4368-A3DA-55A6FD8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51435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E1496D-3893-415F-9FFA-788B22A8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7E2A11-6FFF-4EFD-A4F1-30EA769D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graph_final / report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A032B4-2820-4703-A2CA-0C7D6703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workspace.finalize() or compress_report()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7440C1-B8C5-4CD0-BF9E-BA7C75B1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96C7EE-BC85-4F98-ABBF-A3C6BAF3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41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2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Loop: tool_calls 存在且预算允许 → execute tools → append ToolMessage → workspace.ingest → 下一次 model_messages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D9E44E-4FF9-410C-9034-01CDA5B8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742B85-EFA2-470F-AB7A-C8614FD1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BREAKPOINT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A2CBB4B-E363-4ECD-AD77-B7194EF1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0547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runtime/agent_runtime.py → AgentRuntime.run()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E273D6-04B6-47EB-9C99-4C983D8D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62650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观察：messages · model_messages · response · tool_calls · results · batch · budget_update</a:t>
            </a:r>
          </a:p>
        </p:txBody>
      </p:sp>
    </p:spTree>
    <p:extLst>
      <p:ext uri="{BB962C8B-B14F-4D97-AF65-F5344CB8AC3E}">
        <p14:creationId xmlns:p14="http://schemas.microsoft.com/office/powerpoint/2010/main" val="7235807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83F91-9C4D-49B4-AC47-0B10C5A4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13553-B3A7-4C89-8FDC-1F77E301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 Context 与 Memory 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ACF46-3F4C-405B-A24A-EEFB8A81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711B9-8357-48CA-962F-B069C856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state.py:agents_reducer; AgentRuntime.__init__; ResearchWorkspace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98E4D-CB6E-4669-A572-1BB0207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691D4-64EE-4424-AF62-758718EE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6429375" cy="3905250"/>
          </a:xfrm>
          <a:prstGeom xmlns:a="http://schemas.openxmlformats.org/drawingml/2006/main" prst="roundRect">
            <a:avLst>
              <a:gd name="adj" fmla="val 14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CE74E-3CB1-42E4-B989-49D9E6A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525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56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DeepResearchState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D8580-4E0C-4C73-B7F6-AEBC9004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1952625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1D96D-0D24-41C3-92B6-8CDC8BF7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2095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83039-C455-4661-8E54-81F857B3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812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9041F-F3D4-4D3A-9916-4995EA15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brief / round / review / tasks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D8AAE-DFE4-4BB9-9BAD-24576BE0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26193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86D4B-955B-496C-89F3-CD14B43B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050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F538D-58DA-4363-BA30-E83BDF7D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050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role-owned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0E4F9-5AE0-4DB4-8F6E-2F36D767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4333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7E7F8-2D2D-4CF3-84E2-88FAD5F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195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82A03-D4FB-45B8-8F43-FB5180A3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run_id / working_contexts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2E8A27-7672-4654-B15B-B2086396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4762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8622CC-F1AA-4F6F-A7BA-F1D7921C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482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02498-29A0-4025-95E4-19A084DB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48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sections / final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F13ABD-7AA3-49AF-8B6B-AAA2AA7E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" y="5143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AE54DA-FCD3-4673-8422-069A24A3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292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4432EC-354B-40C2-9F72-D5FD9DA7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budget / 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8E7C5-FECA-4143-B8A2-1188932C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F295E-5098-4BD0-BE97-C7D0BF1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28575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A9AE29-95DE-4606-826A-2BCEFE40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6225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2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public_signal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ACD5E-E467-4C36-B045-83DBF709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62250"/>
            <a:ext cx="2333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memory[] · rolling_summary · report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DF30D0-BAA7-48B8-AC90-6DEF609F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31623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8AFFEE-6889-4645-B546-5D2A376B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6705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2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internal_knowledge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51B45C-2B45-4A9C-932D-CBEC0243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34671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86595A-D2B2-4293-A43F-486EC3E4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7185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2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risk_assessment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8D9A81-CB04-4D71-87A3-3F18B763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37719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EC969E-60ED-41CF-9244-21000E5C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7665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2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response_strategy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D20039-1732-4B6B-88B4-A718C256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381125"/>
            <a:ext cx="4238625" cy="3905250"/>
          </a:xfrm>
          <a:prstGeom xmlns:a="http://schemas.openxmlformats.org/drawingml/2006/main" prst="roundRect">
            <a:avLst>
              <a:gd name="adj" fmla="val 146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8B375C-68C1-4F1A-92EE-95266836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00200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AgentRuntime instance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BC099A-5466-46B1-A5DF-113D98CA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47875"/>
            <a:ext cx="3571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6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每次 run_business_agent() 构造一个实例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892390-6E1A-4DFA-A729-27E80103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3571875" cy="1952625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721404-31CF-44C0-AA48-00FBB338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571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10C02C-C65D-4989-8E81-798B9C06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76525"/>
            <a:ext cx="320992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9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9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messages = [HumanMessage(task)]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9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9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+ optional private-memory HumanMessage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9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9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+ AIMessage(response)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9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9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+ ToolMessage(observation)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9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9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只存在于当前 AgentRuntime.run() 调用过程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080287-40B1-4888-B184-F3AC6EFC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State role memory 会进入下一次动态 Context；Runtime messages 是当前 ReAct 历史。二者不是同一对象。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BDA07F-4A67-4CF0-8E8E-BD12DC29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19B519-D301-400D-9E9D-4DA45200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A3307F-4795-41B6-88B0-B6E30EA2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626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state.py → DeepResearchState / agents_reducer()   ·   runtime/agent_runtime.py → AgentRuntime.run()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5196B4-672C-4410-8684-24215295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1977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观察：agents[role] · agent_state · messages · rolling_summary</a:t>
            </a:r>
          </a:p>
        </p:txBody>
      </p:sp>
    </p:spTree>
    <p:extLst>
      <p:ext uri="{BB962C8B-B14F-4D97-AF65-F5344CB8AC3E}">
        <p14:creationId xmlns:p14="http://schemas.microsoft.com/office/powerpoint/2010/main" val="14576848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35212-720B-470F-BED5-9BC8C7E4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4C1C3-9291-4EED-9717-B281F7F4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动态研究循环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54525-E54E-41D0-B3CD-3F977A3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9F675-CA20-4178-9E02-3212E131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research_review; route_after_research_review; Send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D8530-240A-43B9-9533-89433622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69193-D156-4EB5-B92C-50E173A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6F359-6482-4054-BA9F-D370741F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Round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926B1-7BC0-46AE-9F28-50F7487E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两角色全量研究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8707D-510A-485B-843F-69496936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809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D15F5-D9D1-49CE-948C-D3BED547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050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F286B-2EB6-4326-8D1A-FA825850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03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ResearchReview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0C6B0-45D3-4C5C-9D68-4E0BCF05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81125"/>
            <a:ext cx="2000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F0108-B8BA-4D3E-A4B3-8E375E5D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049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A4684-13ED-40DA-9EE5-FFA068D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0225"/>
            <a:ext cx="177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进入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466B7-C383-4EEE-94CE-CE343555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2000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39883-DDA7-4F59-9980-E1CEEAE3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0520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A7F4E-13EC-49D9-A6C9-15597512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00475"/>
            <a:ext cx="177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校验 target_role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CA43A-9389-44D1-A10B-18641DD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190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15256-1AAD-475A-A3AD-FFA41B5E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052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Follow-up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FC7BB-3788-4AA1-807C-81FD0083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00475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窄任务 payload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DC1DE-83B7-40AB-BF71-532E16F6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90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224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max_research_rounds 是安全上限，不等同预算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补查只允许 public_signal / internal_knowledge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任务去重依据 task_id 或角色 + objective +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Review 完成后 risk → response 固定串行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78079-DDD5-4290-AB32-FDF4C39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283368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75F881-9EB9-4869-885D-3F6FB2D7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57525" y="2790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46E8AD-BA3C-4D81-A81E-FB2A7E03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0" y="28336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573A9-7692-4200-AF97-F2A0DC1E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86375" y="1833563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7C3A21-7478-46BA-A55F-A49C89F2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1833563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E0C7A3-E5BA-4C3F-8E29-D8B6EB57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34025" y="17907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093B7B-AAC3-41B4-98F1-2AA86CA2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3286125"/>
            <a:ext cx="0" cy="547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498321-5BD6-43D7-8A7D-CC26F924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3833813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5706B-5A52-408C-8A35-8D7E947B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34025" y="37909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EF0CB7-E1E7-4B7C-B2CE-84AEAFB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3833813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7B5E6-3693-40FE-8E77-5DD707FA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96275" y="37909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EC4AD0-1DE5-4D9E-B50A-387CB9BC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77375" y="1257300"/>
            <a:ext cx="0" cy="2124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F659BC-93AF-44AF-8B49-D057158F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048125" y="12573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858C61-007A-4397-95C1-143351F0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1257300"/>
            <a:ext cx="0" cy="1123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67AE59-2574-4535-864C-D22FED3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005263" y="22955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991828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3ADAF-47C2-4A0C-9CAC-DAB5211D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60FA1-328D-4D12-9C81-5A8F3BAB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Multi-Agent 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6ECBC-D520-49E9-9A70-3FD3F009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25424-84A9-4C45-A95D-49924AD1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18–23; public_opinion_agents; AgentRuntime; state reducers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EF158-812B-4BC1-85D3-EA22A3DA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14BEE-8AF8-4EE4-89D8-88715CA0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301A5-E570-4315-AC60-583E4F0A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8002F-5FCF-4DFC-9081-24B64AC8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73C8F-6DB0-4EEF-9F36-1D6FF901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四个 Agent 分别独立了 Prompt、Tool、Context、Memory 中的哪些部分？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39040-86F6-4484-A0D4-2C352F04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B0EC8-3F19-4058-B71C-6CD15CE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8B98B-86E3-41EA-B828-13364838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为什么当前实现属于 graph-based workflow，而不是 supervisor swarm？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3158A-2360-4660-BFDF-8D839274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A1166-E9CA-4BE9-98A2-A0025851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6AD13-78F5-4766-AF33-C741EBF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初始研究为什么并行，风险与响应为什么串行？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BF4BF-E0BC-44C4-91F6-672105E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5A57C-B690-453D-98E1-1E42F9C2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B2E4C-80E0-404B-A096-E684EF4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Research Review 怎样只把任务发给需要补查的角色？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439FF-EF34-4A36-951C-AA57E70B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808F6-E9A2-4583-83F3-986479E5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47060-B3DE-4CDA-88AC-D13A5587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并行 agent 更新怎样避免覆盖彼此的报告？</a:t>
            </a:r>
          </a:p>
        </p:txBody>
      </p:sp>
    </p:spTree>
    <p:extLst>
      <p:ext uri="{BB962C8B-B14F-4D97-AF65-F5344CB8AC3E}">
        <p14:creationId xmlns:p14="http://schemas.microsoft.com/office/powerpoint/2010/main" val="20254327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AF62C7-4EB5-4267-8ABD-2B310845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34C1B-C6B3-4581-9411-4B6A30C3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016F6-B70D-4AF7-8365-C325E6DD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00FA9-15F4-431A-9314-0192C003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utils.py:get_all_tools; business_agent.py; agent_runtime.py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05390-B37D-4159-9835-0716A7D4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4A7E8A-BAA5-45C5-ABC5-DD70DA3E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176BD4-5C2B-4901-BD9B-AD380B7D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28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4AC73A-B8F1-4BEC-AF27-B8C602F2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Assemble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CC5924-D7FF-48E9-8D29-F18EFCF8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19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utils.py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get_all_tools()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D2A207-5161-4C7B-BB3D-C9EE5D8D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21526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758714-7887-4E3D-9786-A7BB5F26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57550" y="21145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932413-A611-48EB-B0A6-9D92BAAF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A0C3C8-EC5F-4999-B012-6B17011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28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1A5F02-DC83-4D65-B82A-7454DF1E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19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Metadata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F568ED-9839-47F3-B46E-466001A6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domain_filter.py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tag_tools_with_domain()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2176B1-3DF9-437B-B1EE-6A2922C1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21526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6AF7E2-13BD-45D0-89CF-6DDE9E1D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62675" y="21145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386723-2FB2-4FED-9C9F-F7BD4867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350420-E445-4E31-AEB5-3B8E4D08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28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626AC9-49C9-40B3-817F-F6BDC3B0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Role filter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F9004B-7EA1-44F3-B61C-342B77DB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19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business_agent.py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_business_agent_tools()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5D8B65-6A50-4073-BC92-957ACCA6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15375" y="21526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9C9110-78D1-4062-94DE-8C17499D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67800" y="21145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E5570D-4527-4D7B-A2A7-25D70779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8D616E-3AA9-4E96-BA39-433BF5E5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28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CCF981-D255-4B96-A01E-95919A74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19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Bind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EB335D-6521-4832-A2C4-E94D0072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business_agent.py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model.bind_tools(tools)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AE5526-26C7-4B00-8A79-E0DFA96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3375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5A62A6-81BE-4FA3-8812-D12A46CE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38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E4A249-BD4E-4EAC-90C5-D70A71B6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Model call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A929EE-8F41-4833-A464-C6E265EA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290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AgentRuntime.run()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response.tool_calls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2EC018-AD1E-454B-B987-165AC6AD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39624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850411-9955-402B-8494-A6E1660E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57550" y="39243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34A1DB-00F7-402C-B39F-F0F3B35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9230E7-7F3A-4904-A9CB-D9AF3A57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38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5F08DD-13EA-43ED-8FCF-2EF0B86A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Budget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7CF2A4-DA19-4D51-88DF-E1F8FE51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290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budget.py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filter_tool_calls_for_budget()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B2238F-E6C7-43B1-B629-1A9D058D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39624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C540BD-73B2-4E9C-9203-DC35B8A8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62675" y="39243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BACAE1-7470-46D9-BDB3-2F3B1288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819EFB-70A6-4312-9DA5-FE7F8219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38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E48F78C-D7F1-48B0-B6AD-FDEE540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65B72D0-7D8B-4ABB-B8A9-4B04C477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290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business_agent.py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tool.ainvoke(args, config)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C026D51-565A-4C19-8487-520FC20A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15375" y="39624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0CEA0C-CBC6-4003-97A0-01939D58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67800" y="39243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FF3531A-9772-4413-9764-8930A8B7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C88AFA6-5201-475F-B341-153C5877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38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794ED3F-B896-44A4-B055-CC4BEA8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29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Return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CC584CB-6A63-417F-AE31-AE30B9D7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290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agent_runtime.py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ToolMessage → messages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D48CE4D-1AD5-45A1-8B56-64875916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0" y="27813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C492AE-D060-45E7-98A3-110ED10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666875" y="309562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BC25C72-2736-44B4-8D40-0CA8D345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66875" y="30956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C7F4B4-8477-4532-93E8-AF770EA9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8775" y="32575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0DEDC88-24B7-48BB-B174-12701558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E3B380-6038-4AC9-AE22-213DED5B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77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7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学习时注意：MCP 只贡献 Tool；Agent 是否能看到和调用它，仍由 domain filter、bind_tools 与模型 tool_calls 决定。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F5142D4-39F9-401D-AEE7-2FABD697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F1D0150-EAA6-4B43-B784-75E86518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C6531D6-D348-4E7A-9A0E-EF9E89DE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626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utils.py → get_all_tools()   /   runtime/business_agent.py → _business_agent_tools()   /   AgentRuntime.run()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43279B6-ED71-41A5-9FDD-24C96DDA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1977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观察：tools · filtered_tools · response.tool_calls · ToolMessage</a:t>
            </a:r>
          </a:p>
        </p:txBody>
      </p:sp>
    </p:spTree>
    <p:extLst>
      <p:ext uri="{BB962C8B-B14F-4D97-AF65-F5344CB8AC3E}">
        <p14:creationId xmlns:p14="http://schemas.microsoft.com/office/powerpoint/2010/main" val="4161725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B2975C-8C1E-42A9-8F1F-13D75F16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4D9BE-D435-48A7-A3AA-BABA5D63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Domain 权限矩阵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01CBB-6B54-41AF-9192-8EA5F94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FC82F-EB1E-4467-84AE-18E23B7B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mcp/domain_filter.py; public_opinion_agents/*.py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6D1BA-A685-4789-8945-72D0D4E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F1204-9625-4943-97ED-75423B1C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0F2E5-EE21-4D01-BFD1-D4B107ED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1AF3E-170A-4EBA-87A1-E803609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web_search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FA3CB-72DF-42EC-8FD2-5BA987EE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5DC1F-D70D-4F54-B1BE-27CD720C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social_media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D035B-5E9D-4E48-A885-F55D0AF0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2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database / document / feishu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2D652-931B-422F-8EE3-F42C9479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55A3B-44FF-4476-A56C-18EB34D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466D5-C4DE-445D-9FE1-94F56181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BE062-6398-46F1-9308-A19908A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3F2F6-5E14-49C8-A27F-B80418C6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AA5BF-296F-443D-8678-FE625FFA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F52F1-718E-4C89-9394-0F7A0EE9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DF598-0600-4EB5-8AA6-B0F64F95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D557E-0BCF-44F2-BE21-C9482977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6A2A0-6C88-48AD-9A18-321DAFEB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A5F2C-7162-4C8E-990E-5E310D27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361C3-8F6A-4492-AD84-F4C1D22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internal_knowledge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F80F6-1BA6-43BD-ACB4-D4A0110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90397-C237-4885-917C-19D1FE3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B6BC6-C09F-4350-A611-1B7CC22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600C9E-9F20-4B93-A9C6-76874D61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2B557D-59AE-4F9D-9468-AB221A5A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37C69-4191-4235-A980-509104C7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55173-28B5-4FAE-95F0-A383453F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84F44-2AB6-4624-92C4-05E9688D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D77255-AFAB-47CB-B019-79ABF7E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29283F-F860-4F93-BFB4-17D68534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841449-1251-45A5-8605-BD6F4142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risk_assessment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A91022-8BBE-456E-A116-41F2868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50750B-F2C6-4955-99C6-F34B71C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51D7BA-3403-40D3-BD52-E0C4714F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A3E4AF-8860-458F-A7F0-E85DFD4D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CB4BD9-486F-48D6-A04B-59C7F8C4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205E35-2DFD-4112-B37C-ECDF05D9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0A5443-7EC6-44A9-9449-3C78EA4D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6205D-B107-45FF-A4BC-7AFE813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DAF2C9-5332-432F-A50F-E4F7576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544E3E-3400-49AB-9646-A96D1B9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45815A-056A-484F-8D2A-827CC45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response_strategy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CB0F4E-D113-4C8C-A17C-8103CA6B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007B18-4D42-40FC-9E85-BC878D55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C719AE-16A7-4FFD-9676-FB27BD63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2672BF-881F-49C1-BA98-A985A54E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0A07D7-A0CF-4D36-B214-AAB81FAC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414F75-A81F-478E-A8D0-E1AB5FE3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4EABB1-7258-45F1-BDD0-AC84B499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E4A28B-F376-45F6-891E-D925594B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F3B4EF-9A4F-4953-939E-3058A8F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9ED929-82B3-482E-ACF0-FF648C15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26C8EB-9BE0-4D57-8874-218A5D60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4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当前四个业务角色不会获得 database、document 或 feishu domain，即使 MCP Server 已加载。</a:t>
            </a:r>
          </a:p>
        </p:txBody>
      </p:sp>
    </p:spTree>
    <p:extLst>
      <p:ext uri="{BB962C8B-B14F-4D97-AF65-F5344CB8AC3E}">
        <p14:creationId xmlns:p14="http://schemas.microsoft.com/office/powerpoint/2010/main" val="2745389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57F9B-39D6-45F7-AC50-05437760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52BC4-49C1-4D95-98FA-C24D5602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MCP Server 到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05AC4-AD20-4D28-90F1-867BF8D1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302E3-40F2-41F9-9232-80189F6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mcp/tools.py:load_mcp_tools; tool_wrapper.py; domain_filter.py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CA7D9-AC57-48D3-A45F-786729D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BF55F8-9C37-4C36-8C80-26755C84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0"/>
            <a:ext cx="1666875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D39B2E-A73C-4D2B-BA92-6434D8D2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905000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Configuration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0722D-61FF-4A8E-B470-97ACBC34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90750"/>
            <a:ext cx="14382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configuration.py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mcp_config / dbhub / markitdown / feishu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03088-E0F8-4F8F-9671-2AB79D94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2352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33EC8-D626-4F1D-8113-D69DEBB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09800" y="23145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B6C786-ED15-4060-A77D-24850CE5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09750"/>
            <a:ext cx="1666875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B6298E-8E91-4B64-B995-C0037A68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05000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load_mcp_tools()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CBA9F0-D4E7-400E-BFB5-258120A1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14382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mcp/tools.py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build servers dict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F8BE1-08C5-4B2D-8E90-6F5C8976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2352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C5934E-13A9-4B7E-A270-F500B94C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62425" y="23145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AD6FB0-A509-433D-9DE7-34943274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1666875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9AB22C-0256-4033-9F23-C7087E6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05000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MCP Client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7EF585-5FA9-4E8B-816D-247F6F7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90750"/>
            <a:ext cx="14382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MultiServerMCPClient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one client per server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D14B84-CAE1-4482-981D-8E619F52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2352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92056A-5ACA-4DEA-B620-9A9009D7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15050" y="23145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DADD63-F10F-4E2C-AD38-BE0335D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666875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B6AB5B-5631-427F-AB59-93FCC8B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05000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Discover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81F324-D499-45B3-8438-C873928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14382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client.get_tools()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BaseTool[]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478FE0-1D6C-4320-B29E-1EB09AD2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58125" y="2352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6038EC-F1D2-49EA-A809-C8104701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67675" y="23145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403296-428C-40EF-A4E2-4851D3DC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1666875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EEF227-FD0C-4E00-AD0B-03F7DCC4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05000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Wrap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4F31BE-C802-4F51-A03A-F91245A3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90750"/>
            <a:ext cx="14382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wrap_mcp_tools()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conflict namespace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633E45-4F4A-4ABF-A761-C95DEA4C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10750" y="2352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062D4D-926D-41E9-BB84-A2053E0F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20300" y="23145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7A86C6-32B7-4DAF-95D3-A7450AC9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666875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DB3EE8-5080-4A37-9CA2-8AF3C55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905000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Tag + filter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0E8BCB-CE3A-4D30-9D99-464A1B3A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90750"/>
            <a:ext cx="14382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tool_domain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9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9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AgentSpec.allowed_domains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C48291-8977-41F2-908A-F7D0697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104900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5DA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CF14DB-4C90-4436-BC3A-0D0D07F1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31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Transport 与 fault boundary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181CF7-72E4-4161-A82B-55992E2A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• legacy_mcp: streamable_http + optional auth wrapper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D4B717-54C5-46F3-B75D-5E125C8C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576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• dbhub: stdio 或 HTTP；配置构建失败只禁用 DBHub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D8393E-5761-4C8F-841C-78AE46D8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672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• markitdown: stdio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5E91B9-949B-4EC2-BD95-306430C3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7677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• feishu: stdio + preset / OAuth options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9DF2C8-5065-4405-851C-F7B6F66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863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• 每个 Server 的 connect + get_tools 在独立 try/except 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34150E-3C26-4192-B3FA-2E5D24AD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F7159A-4313-416D-89E3-DFFCD396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BREAKPOINT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3F599E-399E-4FD5-A82B-D59E9D47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673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mcp/tools.py → load_mcp_tools()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EAC58A-E60D-422B-8092-6DBB4E95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观察：servers · server_name · server_conn · tools · wrapped</a:t>
            </a:r>
          </a:p>
        </p:txBody>
      </p:sp>
    </p:spTree>
    <p:extLst>
      <p:ext uri="{BB962C8B-B14F-4D97-AF65-F5344CB8AC3E}">
        <p14:creationId xmlns:p14="http://schemas.microsoft.com/office/powerpoint/2010/main" val="8256802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38A60-2CD8-4EC5-A25E-72E1941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C0F69-8B67-42FA-92B0-82F262D3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多 MCP 管理与冲突处理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D97A-D1B9-4BBA-A152-30911E79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B71F2-6E7D-450A-9F10-908BB567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mcp/tools.py; mcp/tool_wrapper.py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7AA1E-7004-49A5-B33C-BE0A1C0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0EC03-26D5-417D-8C69-EE9AC5F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一个 Server 失败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F172E-AA07-4058-8784-C1E67277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工具名冲突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97E1A-9AB6-4BE9-AF5B-93CB8EC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095875" cy="2238375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0D4FD-E21A-4622-BF90-5EB4E934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71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3E320-E487-4AA7-8EBA-176D3847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4733925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for server_name, server_conn in servers.items():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try: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client = MultiServerMCPClient({server_name: server_conn})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tools = await client.get_tools()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...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except Exception: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logger.warning(...)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continue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ED92C-EB97-4B63-A9FC-B9E194D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5238750" cy="2238375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1F51C-CE2B-435D-8CFC-48B70D33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571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9403D-F75C-4730-BA72-BF26DFA3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9775"/>
            <a:ext cx="48768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if original_name in existing_names: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prefixed = prefixed_tool_name(server_name, original_name)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renamed = _copy_tool_with_name(tool, name=prefixed, ...)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else: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wrapped.append(tool)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A2BD3-D396-4ABA-A0E8-2D23C8C8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5095875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415DCC-8465-4954-803C-830D8CA7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BEA0A-2FE5-407E-BB08-780CC0BA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6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DBHub 失败 → 记录 warning → MarkItDown / Feishu 继续加载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467A6-6733-4BC5-B9AE-9D23AAF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523875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5AB81-9CF1-4CED-AF29-3708B4D0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597E53-E168-4C95-9447-7733174F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9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9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已有 search + DBHub search → search + dbhub__search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7F3DA3-E781-4A13-8D8B-F94F5C7C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FC7EBD-3AD6-4225-B47A-A855BA89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READ NEXT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E9AF60-0554-4CE1-8360-004FCE88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673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mcp/tool_wrapper.py → wrap_mcp_tools() / prefixed_tool_name()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97A266-C9D2-4DF8-85E7-7D4EB225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观察：original_name · existing_names · prefixed</a:t>
            </a:r>
          </a:p>
        </p:txBody>
      </p:sp>
    </p:spTree>
    <p:extLst>
      <p:ext uri="{BB962C8B-B14F-4D97-AF65-F5344CB8AC3E}">
        <p14:creationId xmlns:p14="http://schemas.microsoft.com/office/powerpoint/2010/main" val="7467553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8BE26-4E7C-4341-B0B0-303253FF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3F452-EC8F-4061-99C8-A72981AD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 Skill 的真实边界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F24D4-55CB-43A5-BD02-F65AFCF7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FA350-81C7-4F63-84E4-A40BE7D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rg --files; docs/guide/social-media-skill.md; 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B835A-24C8-4D5A-BEB4-85C20CE1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24174-FCEA-4FB9-8109-133FE1A3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CURRENT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CA8F8-10E8-48F0-B687-DED72334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381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3EA10-9776-4B41-91DB-2476E9F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5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8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898BD-7ECF-4707-98C9-DCD9A1A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152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3E63B-07DA-45AA-9375-B26B3E5F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381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8E13F-1E5D-4A0B-B06E-A1410145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15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8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493B9-D1DF-47E5-B185-61C4C0D3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2152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public_opinion_agents/ + runtime/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02E1E-6DF2-4F8E-9A6E-F1393B13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81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1F86A-44CF-462B-9509-7A1A3C6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15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8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C52F8-2D9B-403F-B88E-E9EC7145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152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utils.py + social_media/tools.py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19AF6-510C-481E-83BA-4572616E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381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78978-00D8-4F37-A98A-FFFC0DBD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15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8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B6B74-421D-4DFF-A6E3-A9486BEB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2152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mcp/tools.py + external servers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A7169-50DB-4048-9F37-8BD476F2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62125" y="30956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8C07FC-8DBC-4AEA-B671-03535CE8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62125" y="3571875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5F6F8-FE3D-4155-973C-72EBEB67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19800" y="3533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99D1CD-9519-49C9-A80D-F9B9AE23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4375" y="30956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136B90-315C-41D0-AFBA-E84C0F96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86275" y="34956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E11CC2-C03B-4839-ADB0-FFA30A6D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30956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F1CF2-716E-46C3-BDF1-98F92D9A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248525" y="34956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E1CF42-1C10-4B36-9734-32693C42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48875" y="30956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3ADF21-F3D5-4A05-AD54-7F90AAB9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3571875"/>
            <a:ext cx="395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FD969D-DB70-469B-98E4-239998F7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96000" y="3533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B2244C-6E3D-4C37-B680-C4CBD58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40005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254A32-90B9-4352-B073-534B82FC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31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social_media_skill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1AB8BF-B584-4301-945D-C8BFB0DF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2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文档 / 业务组合命名；运行时仍是进程内 LangChain tools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99A719-A5A2-4EDD-B387-0E0EFCC5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72390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FECBFF-D191-47BA-B671-E163DB95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958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NO GENERAL SKILL RUNTIME：当前源码树没有 skills/、identify_skill 或 load_skill 实现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47DB5E-16EE-49DB-B30E-D8B1A491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BC8D0D-98C2-4C90-9C61-27AA796F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E26D54-F801-4EC7-BDC3-21885A6F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626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social_media/tools.py → get_social_media_tools()   /   docs/guide/social-media-skill.md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FF309F-4076-42FC-99CE-9C6589FE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1977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观察：文档命名 ≠ 通用 Skill runtime</a:t>
            </a:r>
          </a:p>
        </p:txBody>
      </p:sp>
    </p:spTree>
    <p:extLst>
      <p:ext uri="{BB962C8B-B14F-4D97-AF65-F5344CB8AC3E}">
        <p14:creationId xmlns:p14="http://schemas.microsoft.com/office/powerpoint/2010/main" val="10897033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A694B3-3764-4630-AA7D-09191BFD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D3069-09C3-4DF7-ACEF-F3A88254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Graph、Agent、Skill、MCP、Tool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1495A-4E10-4293-8092-06626BB9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9D676-464F-47FC-A854-A108CB62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current source boundaries; docs/guide/social-media-skill.md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CE36E-C253-4F22-A168-9B9DAC3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B874EC-EE4B-4872-BBA7-51ABF93C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Concept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474289-B838-430D-BBC9-95F8DE8B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Responsibility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1516E0-C4F4-485D-A4D2-F66ABD8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811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File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6920C-8DB8-4083-AE13-C82677C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Symbol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6860A4-D512-45D9-8C64-A3A7D67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92CE8D-34C2-4F22-9FB1-3EC424D3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Graph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3DFBF-AE53-4FF6-87E5-AA28001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621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编排状态和顺序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8A945E-6B3E-4195-BBF3-2DD35A5E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29BCA5-3968-4747-909D-03560160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_create_deep_researcher_builder()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40CEE9-32D7-47B6-81F4-847D76CE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228850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2DF571-7BEC-482B-AC07-42E47007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B81FE4-D66C-4E66-B4FE-F9C9E004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860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角色化推理合同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B3C4F5-BF4A-4AD7-856C-B6A0FC85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860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public_opinion_agents/ + runtime/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26615A-77C0-429F-8CCF-F75F4D06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860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PublicOpinionAgentSpec / AgentRuntime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DA0962-E834-4CA0-A09F-81776E4D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952750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FB6F15-1D03-47A6-974A-A3B2CD18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9DEA1B-AEA0-4365-853F-9B36063F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Skill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C6AC58-6138-4976-BC1E-7B1C300C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99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复用业务方法组合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D4ACB7-782D-4D2A-811F-2146EF6C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99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social_media/tools.py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4548B1-0485-4D74-A54E-B23304EC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99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当前无通用 runtime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1A353F-0BCF-4329-AD4E-D462590B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676650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3D699C-4460-4522-9D80-2632CFFD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MCP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370F63-E622-4A58-831B-A9B18337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338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发现与调用外部能力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91E11A-CDC7-4ABF-8EEB-E4B5F483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338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mcp/tools.py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4818D0-3CB9-4C9E-B657-E9AC411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338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load_mcp_tools()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1B29E6-34A2-4C53-8815-A0CE582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400550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A7D4A3-321B-48DF-83F1-98C3C046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81525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5D98D2-42AA-4815-98A6-E558D2A3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Tool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DD7969-2C61-4300-8580-D5A16CFD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577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最小可执行动作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CB5CAA-A794-4E08-BB09-E456F291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577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utils.py / tool modules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A7A00D-CB6D-4998-97E3-3B3CAD4B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577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get_all_tools() / tool.ainvoke()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CD53D8-6169-4D19-A3D9-EBD351B3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124450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1784BF-5B3B-479A-A155-5A118C5D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10B0F8-A1C1-4F2F-9287-9BBF068E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62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学习时注意：MCP 不负责 Agent 决策；它解决外部能力的发现与调用。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6C63B6-A8A6-492E-9A8A-539C9CCC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9E8F4A-262D-4570-8CF9-B7B54370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READ NEXT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055F05-5F9E-43A5-91BD-5582F198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9122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 → Graph   /   business_agent.py → Agent + Tool   /   mcp/tools.py → MCP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729EFD-B0D7-4FAB-88A5-2BFC17E5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48400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观察：边界 · 调用方 · 被调用方</a:t>
            </a:r>
          </a:p>
        </p:txBody>
      </p:sp>
    </p:spTree>
    <p:extLst>
      <p:ext uri="{BB962C8B-B14F-4D97-AF65-F5344CB8AC3E}">
        <p14:creationId xmlns:p14="http://schemas.microsoft.com/office/powerpoint/2010/main" val="14226512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CFED4-004E-4387-801A-710466F2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2485A-79AD-4ADB-9E8A-C98293EA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Tool、MCP、Skill 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AA8C8-DD36-4235-9F68-E88937F9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A430D-45D1-4657-B424-BD211A7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25–30; utils.py; mcp/; social_media/tools.py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B0A56-A967-402B-8227-EBC300B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BB5FB-0F8C-4656-879E-EF4D4A4C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37B65-7317-4892-B016-9CDBE3B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30D0B-EC55-4090-999A-2E8869F9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EAD30-618E-4B40-8F85-45D9672F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 从定义到 ToolMessage 回流经过哪些步骤？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5598D-B45C-48B4-A55C-5A426662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F2E3C-77FC-48ED-B5CF-ECE86AA8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548DA-3243-4D7D-824C-9E0BBC72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role domain filtering 与模型自行选工具有什么区别？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B798C-8516-4601-A873-B507EE97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29BF7-4793-4149-BDF0-9B83EEE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FABE5-E2D9-476C-82B7-30ECDA84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 MCP Server 的故障为什么不会相互拖垮？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3DB16-2102-427F-B5CA-8C203998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7893D-6080-459D-9A96-617D56F6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9F465-113E-4707-A045-9346E75E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工具重名时为什么选择 server__tool，而不是静默覆盖？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DC6B7-BE17-4636-9145-C78B5286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3B6D3-7BCD-43B7-B957-C6A11C39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02C04-15E5-49DA-A842-C1F2CAD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当前项目中的 social_media_skill 与通用 Skill runtime 有何区别？</a:t>
            </a:r>
          </a:p>
        </p:txBody>
      </p:sp>
    </p:spTree>
    <p:extLst>
      <p:ext uri="{BB962C8B-B14F-4D97-AF65-F5344CB8AC3E}">
        <p14:creationId xmlns:p14="http://schemas.microsoft.com/office/powerpoint/2010/main" val="53764592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50BD0-3BF7-4E28-9715-A38A6DCB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59FCC-AB09-45FA-A222-60E77D5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LLM Context Assembly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F4D98-977F-4BB6-B183-5558B53B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B3589-EE3B-45C0-AAED-D658454C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AgentRuntime.run; ResearchWorkspace.before_model; AgentSpec.format_system_prompt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E94A4-E866-4399-AB81-94DAE858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5CA9EC-2197-48A5-A7CA-DE82B483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6191250" cy="3857625"/>
          </a:xfrm>
          <a:prstGeom xmlns:a="http://schemas.openxmlformats.org/drawingml/2006/main" prst="roundRect">
            <a:avLst>
              <a:gd name="adj" fmla="val 1728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9E1DAB-0EDF-4FDD-B09B-EC5312DD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571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ED5D8B-55A7-4064-9E28-2611E6F5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5829300" cy="3590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model_messages = [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[0] SystemMessage(self.system_prompt),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[1] HumanMessage(task),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[2] HumanMessage(Research Graph Working Context),  # graph strategy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[3] HumanMessage(Private Agent Memory),             # when present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[4] AIMessage(response),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[5] ToolMessage(observation),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...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response = await ainvoke_model_with_budget(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self.model, model_messages, ...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7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87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A6C2A5-9B18-40E7-82F1-8B23453A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44767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8A7ACD-E917-48C0-A4F1-39E94C22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716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真实装配顺序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E19513-DAA5-466B-805A-AAB80151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System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82CC81-E68E-41DD-81D8-8EF6B25F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478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09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PublicOpinionAgentSpec.format_system_prompt()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CC11CB-F775-4B5E-A919-242CB317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146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Task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468C46-C602-4B28-83CD-34D6DCE4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1460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13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messages 初始化为 HumanMessage(task)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25D841-07DA-40A4-B636-FE3F142F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8132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Graph Context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5FCEE3-B7DA-4730-A802-FD3E8FFF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813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3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_ResearchGraphStrategyBase.before_model() 插在 assignment 后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495405-0DD2-4A1E-85DC-34348C2F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480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Private Memory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E68F71-8724-469E-9DAF-A0A4C946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480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3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AgentRuntime.run() 追加到 messages；graph mode 中位于 Context 后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7A8522-EFF8-4D39-BFFE-0680946F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147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History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88D1E7-D1AF-4BC0-974F-6963A29C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147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后续 AIMessage / ToolMessage 持续追加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F4A152-7DF2-482B-BFCA-C36858FC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815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7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7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Standard strategy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79FE1E-6A71-4BF9-9C7A-5F35C4D3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8150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2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2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before_model() 原样返回 messages，因此没有 [2]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D7953B-3D81-431A-9B09-9C0A3A73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44767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CD7697-B21E-4720-B03D-50FD4A61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4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Context 是模型本次看到的全部信息；Memory 只是来源之一。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075AA4-72A2-4FAE-8F04-55DE9F3B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3D30E8-2765-4DF2-BE5A-B318DD20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75347A-414E-433E-853B-0D56FE6C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626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public_opinion_agents/base.py → format_system_prompt()   /   AgentRuntime.run()   /   ResearchWorkspace.before_model()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DBF9C0-18DF-4A24-A2A8-AD14C95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1977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观察：messages · model_messages · self.system_prompt · rolling_summary</a:t>
            </a:r>
          </a:p>
        </p:txBody>
      </p:sp>
    </p:spTree>
    <p:extLst>
      <p:ext uri="{BB962C8B-B14F-4D97-AF65-F5344CB8AC3E}">
        <p14:creationId xmlns:p14="http://schemas.microsoft.com/office/powerpoint/2010/main" val="190661274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B94414-74A6-4654-B667-89220807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F7A25-82C4-44DB-8918-66B03032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Memory 实现状态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35DFB-252C-4E41-A0E3-E968CECA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768BC-3F80-4375-8384-888AAA2F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state.py; runtime/agent_runtime.py; memory/; tests/run_evaluate.py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AAA77-CE2A-4EAF-A645-D576CFC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14B447-CCC7-43A1-8B93-AFFFE370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Memory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86AAD4-27BF-4D5F-AE08-7E2FC19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8112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Implementation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04DAD1-BC9E-4846-8B71-24D444EA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8112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Stored 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53111B-D9EC-4AC0-9111-F95CE8CA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Lifetime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D47542-E235-4572-A1E7-0C1866E3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Scope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986D73-645B-4FE7-A1FF-0C50870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85925"/>
            <a:ext cx="11191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2737AB-3909-4181-BB7F-A93DD5D2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 State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BA0774-38FE-4871-8984-DC91C30B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621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IMPLEMENTED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911C86-4E7F-46C0-853B-F32DA278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DeepResearchState in runtime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3B4FF5-271D-47DC-87F4-375DF35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one graph run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D51EC6-C397-4FA2-87F3-DB26304B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graph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12A783-CBEC-4BF8-B1A5-703D40AE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162175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7D2047-0305-43FA-8F2D-C8DB22BF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Role Memory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B258D3-0F5E-4782-B100-0F26CC4C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526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IMPLEMENTED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3EC5F3-5486-4F2E-812F-6899DA3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526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agents[role].memory / rolling_summary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0B7423-F4B1-4866-9349-6C3BE5ED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526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state lifetime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FEA5FB-E838-4259-B1D7-95A7A5C1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526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agent role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7A9BDB-65D6-48A7-9888-17AE6D1C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752725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CE4587-B546-4626-8F4F-8FABE2FC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67025"/>
            <a:ext cx="11191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1B0D6B-F7FB-415D-8479-C63BA8D3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432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3173FC-02DF-4AD6-8C4D-6DB15B0C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432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AAEB63-2705-49C9-BCA7-54E72DCE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432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research.working_contexts + Research Graph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5A1E90-836B-4124-9E6F-FF158808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432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research_run_id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3576F1-FF24-4BCD-B68A-1AC04A1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role + task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84B917-5BC6-4121-8318-E95C92D8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343275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550ECF-8537-445F-9E49-74923CD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3377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Long-term Memory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0871FC-57E6-45C5-8C86-1F914B6D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33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A81098-9511-420C-8738-C831CFD1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337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MySQLChatMemoryStore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8492FE-C45A-495C-B775-9B45E2D3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cross-run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FF92F9-E412-4862-A007-2F9D790D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337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user / conversation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7AC625-8DC3-42F3-9B0D-BFDCEF3D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933825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E4F7C8-81A9-47E3-BB12-C304D8B8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48125"/>
            <a:ext cx="11191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6D6BED-66C5-477F-82F9-F132880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243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Production Checkpointer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B85FF0-3855-426D-9A87-B1AF8A2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243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NOT WIRED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6EF8EE-4A79-4C0D-B737-3B370533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243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compile() has no checkpointer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2B5C131-FED1-4050-8DED-71311EA3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13F1D4-B9CA-4271-AF6B-13C7E29E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243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78C7FE-F93D-4A6F-8F7B-B5905A27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524375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74FCE71-417A-4F9C-BCDC-7479997B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Test Checkpointer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777425-C008-4FA0-AF73-5923E36D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148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IMPLEMENTED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6BAF91-3C1A-437D-9322-61A8885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MemorySaver in tests/evals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91A1CF1-50F3-4401-B2D3-53899437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148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test process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C2995E7-AC27-4BCA-8587-ADACA911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14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thread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44DA91-285F-42CE-A820-70E6AE87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114925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F5A944D-90AF-45CF-B57D-42B2C443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E13B76B-F271-4C3B-A38B-31CB477A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4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Memory ≠ Checkpointer：当前项目有可选 MySQL 长期记忆，但生产图没有内置 checkpoint persistence。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752391-4EA6-4DA1-8E40-AF848AF9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B69F851-0980-4E4A-A4A0-E134182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619EBC1-3F36-4613-B08F-3A6B6791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436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state.py → AgentRoleState / DeepResearchState   ·   memory/store.py → MySQLChatMemoryStore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0456CE0-2D65-47F8-949B-CC54BC67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0077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观察：storage · lifetime · scope</a:t>
            </a:r>
          </a:p>
        </p:txBody>
      </p:sp>
    </p:spTree>
    <p:extLst>
      <p:ext uri="{BB962C8B-B14F-4D97-AF65-F5344CB8AC3E}">
        <p14:creationId xmlns:p14="http://schemas.microsoft.com/office/powerpoint/2010/main" val="167663190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189B6-4E90-47D9-ABD4-9BBDDF01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0D9C5-8BE7-466C-8B5F-CB48A56B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长期记忆写入与检索闭环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92911-080C-4E2A-99B9-D6AEEB1B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FF0E9-750A-4099-B15B-4D8697B8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maybe_persist_chat_memory; memory/writer.py; rag/indexer.py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09D50-01E1-4048-B732-CB3052FD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5493B5-DA2A-4FCF-8093-DB48AA7F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00250"/>
            <a:ext cx="1428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FCD205-EC33-49C7-B868-CD736EFD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955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4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compile_final_report()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5279AE-82C7-4914-ABFB-82768877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381250"/>
            <a:ext cx="120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41C848-FBCD-4EA1-9F57-6635718A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62125" y="24955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8100B1-08E8-4E60-B3F4-18C93308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43100" y="2457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9F336E-2658-48A9-AE40-12D3FDB4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0250"/>
            <a:ext cx="1428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291E06-7001-4F75-8DCA-81604E7C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955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57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maybe_persist_chat_memory()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4884D2-06AB-4A89-B143-FF902FBA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81250"/>
            <a:ext cx="120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5DFF9E-68C5-4B40-9B5A-ACA345EB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48050" y="24955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74D61B-5FC4-479E-83A4-0287AFF7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29025" y="2457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64CD0E-CE34-4EA2-AB57-93B634C1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00250"/>
            <a:ext cx="1428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7F1E97-35BC-45FB-B9D2-C58EE573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955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59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persist_conversation_memory()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CA193B-1A7D-4A6C-943D-77C3A40A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381250"/>
            <a:ext cx="120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memory/writer.py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837409-6788-40AF-B4CA-98256EEA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33975" y="24955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52F419-1823-471B-B906-D59B0320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14950" y="2457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5DFC50-201D-406A-9C0E-0FF56248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00250"/>
            <a:ext cx="1428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03B1C2-105E-4295-9976-21A8CAC3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955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42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MySQLChatMemoryStore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2FDE07-B838-4D18-AAC3-5AC51B39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81250"/>
            <a:ext cx="120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memory/store.py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AABB11-B36E-4ACE-A477-BBB96DD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9900" y="24955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8588B6-CD25-48F4-AB6B-0E4091E3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00875" y="2457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9D0E2F-A4B4-4B6A-857C-B67E1BD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00250"/>
            <a:ext cx="1428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2FF717-E008-4490-A09B-605ABF49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59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trigger_memory_index_refresh()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857FF2-6305-4AC4-BFFD-27642EA3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20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memory/writer.py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379E33-E817-40C6-87BA-D6AB0086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05825" y="24955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4282A7-4805-48AC-B3D0-83E518A4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86800" y="2457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CD57AC-98FE-4EB1-85D1-B0C408E3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428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9B2996-234A-42E7-80DB-6D1437B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59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RAGIndexer.index_pending_memories()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42B14B-4717-430A-9FD4-8C3C82EF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120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rag/indexer.py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B117B0-964E-4F87-AC73-14D7538B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91750" y="24955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243171-F753-4395-963B-80479DB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72725" y="2457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E7C633-FA6F-4F52-A67D-2FCB694B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000250"/>
            <a:ext cx="1428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288CFA-2862-41E6-8002-45F161D8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0955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rag_search()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D29DCF-0D50-4457-A63A-63019868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381250"/>
            <a:ext cx="1200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tools/rag_tool.py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372C80-F2C8-4F11-9AE3-BCD62EBE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52387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B66652-F79C-450B-B40A-61573FA7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WRITE PHASE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5D84D2-510E-4909-A3F7-5BC4EC6F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final report 生成后才触发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写 chat_raw / summary / project_fact 等记录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新行 index_status = pending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失败 fail-open，不影响报告返回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995876-D38D-43B1-9E0C-0B8EB193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52387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52AA23-48D6-4405-9E42-5265BC2C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QUERY / INDEX PHASE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A1B007-AB92-4040-8473-692C1089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后台刷新或 query-time ensure_ready() 建索引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只索引允许的 memory type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向量库是可重建副本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rag_search 按 user_id / conversation_id 过滤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BC86C7-8267-46AE-8A22-3623C3A9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1EACBC-A201-4CF8-89E4-60DA284D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BREAKPOINT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8348B7-9135-451D-B6AC-5E887A0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673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 → maybe_persist_chat_memory()   /   memory/writer.py → persist_conversation_memory()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281BF4-E240-459B-B495-868D966F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观察：records · conversation_id · user_id · index_status</a:t>
            </a:r>
          </a:p>
        </p:txBody>
      </p:sp>
    </p:spTree>
    <p:extLst>
      <p:ext uri="{BB962C8B-B14F-4D97-AF65-F5344CB8AC3E}">
        <p14:creationId xmlns:p14="http://schemas.microsoft.com/office/powerpoint/2010/main" val="20830007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BF132A-42C9-4EEC-8A0F-A8E5F0BF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E917B-A70A-4FD0-B6E2-E151E028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Context Compression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9F0FD-C9CB-41DE-BAF7-D7687D6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E97FA-D80B-4970-863F-BA9B46DB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AgentRuntime._compact_history; research_graph/compaction.py:rolling_compact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90825-79F9-4F86-BAAA-A2E7FE3A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A5ABC-3013-4D4E-ADC0-D21A1950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ILLUSTRATIVE EXAMPLE — not runtime telemetry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5D800D-965B-4AA0-BB88-770DF2D5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143250" cy="2524125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A8FDEA-61E5-4BE7-8066-91F85DD4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6AF582-F9B9-4E89-9659-464E3EB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7813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BEFORE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System          3k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Task            2k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Private memory  4k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Tool history   18k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Research ctx   20k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------------------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Estimated      47k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1F1439-2392-47AD-9A41-0F6F4B7B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B0A646-DF63-4483-8F8A-C8FC18B8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2887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pressure &gt;= 0.75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2247D8-8714-480D-8240-531D5EE5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14625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estimate_context_tokens(model_messages, tools)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6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context_pressure_ratio(...)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EC7A0C-A706-4D37-861B-56D0215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4750" y="29718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46BFEB-58E4-4C5E-B22B-B1B85418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57675" y="2933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C27EA9-AB05-43D3-8AB4-37F0137D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91375" y="29718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3823E5-4183-48F4-B700-7BCDEDE3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34300" y="2933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13A305-1558-42F6-8D6E-937AACF5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524250" cy="2524125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FA082C-C79B-4AD1-9218-A18AE52C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7CC5C6-EBCB-4F9F-8BCB-B363938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31623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AFTER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System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Current task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Protected Working Context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Protected citations / subgraph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Rolling summary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Recent 3 raw tool steps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288401-8FE9-43E9-84AC-6DA92A8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076325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73F9EF-E417-4AE4-9F5A-99D6262B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真实行为：_compact_history() 只在 context pressure 达阈值时调用 rolling_compact()；结果写回 rolling_summary，并用 result.messages 替换旧历史。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D0244B-7F0A-44BE-990C-410400A4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7AB273-2A3D-413F-94D5-81869CF1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BREAKPOINT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EA5E48-AEB2-4A8C-BE70-4746C862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673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runtime/agent_runtime.py → AgentRuntime._compact_history()   /   research_graph/compaction.py → rolling_compact()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889EDC-A607-4A67-8337-2B3CE736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观察：estimated_tokens · pressure · protected · rolling_summary · result.messages</a:t>
            </a:r>
          </a:p>
        </p:txBody>
      </p:sp>
    </p:spTree>
    <p:extLst>
      <p:ext uri="{BB962C8B-B14F-4D97-AF65-F5344CB8AC3E}">
        <p14:creationId xmlns:p14="http://schemas.microsoft.com/office/powerpoint/2010/main" val="48470042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6F961-C93C-4B2D-83B0-E0DEA254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45BC8-5D0D-4250-B34F-7F30307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 与 Memory 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43E1D-220C-4469-8A3F-67D7836B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92973-7A0F-4820-809B-2D8E7176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32–35; AgentRuntime; memory/; research_graph/compaction.py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C3B5B-E687-4442-A0F5-CB89267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80003-8916-406F-9514-D96E884F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F160A-318A-44F3-80E8-C7669868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82303-9382-4B2F-97F3-439A0B96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EC781-7371-4B7D-81A5-2A89552B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一次模型调用最终包含哪些动态上下文？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46DFB-768E-4F2F-9AD3-FD61093C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AE977-E6FB-4E77-8BE6-2ADE917F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07C65-D6F2-4173-A2C8-0DBAC1D7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私有 memory 与长期 MySQL memory 有什么不同？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7FAA5-3D1F-4B9F-8478-45020428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8CAA-FA7C-420E-9772-4BDC504A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7BAED-312D-4E2E-BC88-4AA5D2D5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 thread_id 不能自动等价于 user_id？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4D27F-DE9D-4479-9596-330ECEC6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3DBD3-FC41-40FE-A9B6-04CA300B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E14FC-C856-4CC6-B1E3-C5F5D9A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上下文压缩在什么阈值触发，哪些内容需要保护？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1414A-BF95-4589-ABA7-A5487EE6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624AC-3344-408E-9254-13492C06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E8607-7795-4C8B-BEEE-49844CB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没有生产 Checkpointer 时，跨请求连续性依赖谁？</a:t>
            </a:r>
          </a:p>
        </p:txBody>
      </p:sp>
    </p:spTree>
    <p:extLst>
      <p:ext uri="{BB962C8B-B14F-4D97-AF65-F5344CB8AC3E}">
        <p14:creationId xmlns:p14="http://schemas.microsoft.com/office/powerpoint/2010/main" val="11044488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BF1F39-13EA-4095-A699-8392AEE3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/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4049E-0E1E-4136-BA86-FB069300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 RAG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86D0E-8651-4791-A48C-21B44BD9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51DE6-1672-458A-AD2F-EDA676A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tools/rag_tool.py; rag/service.py; rag/indexer.py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6F0AE-2D3A-463C-BD81-345BD85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5653AF-61C2-4F6E-9ED7-DE656171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76375"/>
            <a:ext cx="2047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8EE9EE-FB7F-49E4-AC54-64005EE8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57162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rag_search()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C35E91-80E8-4D17-B59B-C7B0FC3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857375"/>
            <a:ext cx="1819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7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tools/rag_tool.py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BE7511-6D29-4E8B-89CA-C3AF09EA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20002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0CC23-E912-4425-B298-007B1BE5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00325" y="1962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295E43-429C-4EF9-BE2B-F635B900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476375"/>
            <a:ext cx="2047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35D43D-46B5-47AE-939F-981E3EF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57162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maybe_rewrite_query_with_model()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F72E15-0C27-4901-A2D5-C1B30FDB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857375"/>
            <a:ext cx="1819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7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rag/query_rewriter.py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3FAC6A-F3EB-4404-B65D-7C82E822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24400" y="20002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EA49E9-3A5F-447F-BB5D-590CB07E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43475" y="1962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6BF0E3-5E54-464D-8682-D256F547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476375"/>
            <a:ext cx="2047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481DDF-36FC-4C66-9235-4B38A577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57162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RAGPipeline.query()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E71129-9888-4D90-B6B2-804B1254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57375"/>
            <a:ext cx="1819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7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rag/service.py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C92FE9-7BFB-4929-8070-A2AD84AC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67550" y="20002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1CAA24-BD65-43A8-8D85-59D56347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86625" y="1962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5AF027-5E7E-4A3A-81E0-B8914F84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476375"/>
            <a:ext cx="2047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8AA478-D164-41DC-B593-8BA3B23A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7162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embed_query()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574904-C2C8-4564-9E58-EEC52B0C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57375"/>
            <a:ext cx="1819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7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rag/embeddings.py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ED02A4-634B-42CB-8CF4-5F8598A1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10700" y="20002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E23650-2508-451C-AA28-F7ECBB43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29775" y="1962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5EDB77-F48F-404D-8DF7-993E2E2E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476375"/>
            <a:ext cx="2047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FE089E-871D-4CAF-B88E-F5A93909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57162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89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HybridChunkRetriever.retrieve()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0795EE-DA74-430C-8219-6E5F0C95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857375"/>
            <a:ext cx="1819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7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rag/retriever.py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0E5555-1AB3-4DBF-A1DB-8590FF08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143250"/>
            <a:ext cx="2047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5E7818-2859-48AC-AE1C-F6ACA433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238500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reciprocal_rank_fusion()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909BD1-4B24-4141-8A8D-BB458C0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524250"/>
            <a:ext cx="1819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7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rag/retriever.py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0B7EDE-B826-4700-808D-85B019F6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667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0C5F486-E0FE-4627-87AA-084BCB71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00325" y="3629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A0B26C-D806-4496-A4F1-C633D6DC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43250"/>
            <a:ext cx="2047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752891-D34C-468E-A659-B6ED2BA8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38500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 expansion + metadata boost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28D6A8-0809-4814-9548-FEE51A7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24250"/>
            <a:ext cx="1819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7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rag/graph.py + retriever.py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40BBACB-2467-4193-B63C-69426760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24400" y="3667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606B59-DB8D-4F99-ACA1-7225CDE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43475" y="3629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290EBF-C19A-4A88-B7CE-FDA9276E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43250"/>
            <a:ext cx="2047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A395CD-DC0D-4D2C-91E9-4759208B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38500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reranker.rerank()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2919FAE-7F40-4E4F-BC0E-3AA44F7D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524250"/>
            <a:ext cx="1819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7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rag/reranker.py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39E4DB-A692-4A46-A4FC-E81B814B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67550" y="3667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08BFA8-7125-4F51-923D-42DBDB1C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86625" y="3629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E931B82-5F28-44C8-A62A-93333BF6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43250"/>
            <a:ext cx="2047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771B592-867A-4E36-88F6-73D1E639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38500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top_k + citations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185E377-2304-4302-A2FD-A0270EA8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24250"/>
            <a:ext cx="1819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7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7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rag/citations.py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EDC976B-028E-4BD7-BE13-ED9B3E80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252412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302A080-86DF-4924-A8F8-084456C1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52550" y="2809875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4F59B46-42F9-4730-B380-2C0572AE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8098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962DA55-8AC5-440E-8E03-76A64BC2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14450" y="30670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C63017-6AD6-4EED-AD4C-6C1A13E7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10490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7EA3942-20ED-42CC-896A-227FA5C4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 expansion 与 structured metadata boost 都发生在 Hybrid retrieval 候选阶段；Cross Encoder 与 Authority adjustment 在最终 top_k 前执行。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28199B-8E46-4477-98E0-9CE1A2D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83CE500-7153-413F-9D6A-A746D055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BREAKPOINT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02665AB-8900-4729-8F97-88769E6E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673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tools/rag_tool.py → rag_search()   /   rag/service.py → RAGPipeline.query()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730E0D-861E-4C23-BDB3-60D1850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观察：query · query_vector · vector_results · keyword_results · retrieval_results · selected</a:t>
            </a:r>
          </a:p>
        </p:txBody>
      </p:sp>
    </p:spTree>
    <p:extLst>
      <p:ext uri="{BB962C8B-B14F-4D97-AF65-F5344CB8AC3E}">
        <p14:creationId xmlns:p14="http://schemas.microsoft.com/office/powerpoint/2010/main" val="12048786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A8DB31-C337-4942-888E-BCD1F44C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/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70BFF-DDA9-4F00-984B-A551F379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Hybrid Retrieval、Fusion 与 Rerank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19624-B826-431A-850A-F426D4C0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74613-8D11-4FE5-B9A8-E83741D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rag/retriever.py; rag/reranker.py; rag/service.py:RAGPipeline.query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7E1A8-15D8-4F02-9300-C2C3FB9C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0A903E-7361-4A4E-B1D5-A22CBF3F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5E4422-F714-4757-ACEF-60B69E18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Example Query: “某公司最近产品质量争议”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30A109-1D45-42C1-B081-64169535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514475"/>
            <a:ext cx="228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2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ILLUSTRATIVE RANKING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7B5642-17DE-4A21-A8CE-6B6F9449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28875"/>
            <a:ext cx="20955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E247AC-5A38-44AF-8691-71CE0781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DENSE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6E0EC5-D943-4282-8FFE-129F78C9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  C  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B04276-AB48-4ED7-A76F-A07A780C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semantic similarity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36E703-EAC5-4897-93CC-52BCA8B2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3162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4F208E-A279-4087-989A-3828A52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67000" y="31242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9ECDD5-0247-44DE-BF7B-711C8169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28875"/>
            <a:ext cx="20955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29AE7E-F8C3-49EE-A539-AD7C857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BM25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3CC7AE-56B1-41C2-AA23-95EE8B08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037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B  A  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B1B233-BEDA-462A-803F-DC81B437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766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exact terms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6A2DC5-1C11-4741-94F4-1BF960B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38700" y="3162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37B44A-A33F-4954-9A39-5AF1EBC1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29200" y="31242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62C452-5A27-476E-9684-D6C0AEFB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28875"/>
            <a:ext cx="20955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6B4535-02ED-4311-903B-ABECCF73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RRF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4FC8C5-256B-4F44-94B0-70F6973B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  B  C  E  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878DF7-35EE-49F1-975B-98191945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rank-only fusion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E40E7B-719C-4DD9-A726-177EF90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00900" y="3162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5B25AC-206F-4609-B519-E4216BEC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91400" y="31242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6E6A13-209B-4BAA-9AC4-FD2C1C2C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955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D1F33E-7914-4A50-9831-271797F6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CROSS ENCODER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3C6E56-9FF9-48F5-88FF-08C59F70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037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  C  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21387C-A95A-4A28-88E0-8085747D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query-document relevance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45EEE7-202E-4D18-B2A4-B47C2B48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63100" y="31623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62C587-B2C9-4646-9526-2DF01B02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53600" y="31242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F591DC-32CE-467B-8DF2-3ECBBEF9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28875"/>
            <a:ext cx="20955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BD8E66-61C2-4B71-BBEC-628BF985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FINAL top_k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321AA15-E8A3-45AD-ACC6-DF3AC1B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0037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  C  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9357A6-0581-4857-A864-E8A8FE05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766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authority + filter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3303DA-8A25-4EFD-A82A-F82FAA21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10490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69B4C6-501B-4175-B67A-5ED4DF7E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如何读这张图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626C7DA-ACB4-426C-9549-C3625D0B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386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4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Dense 与 BM25 可返回不同候选。RRF 使用排名位置融合，不使用虚构的 alpha 权重；Cross Encoder 再按 query 与 chunk 的联合相关性排序。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8B83F8-4C93-4816-BA66-8550B0C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64D13E-AF69-4A65-975B-12FED17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4FB1B2-A29C-4D4F-A6AB-ED381B70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673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rag/retriever.py → reciprocal_rank_fusion()   /   rag/reranker.py → CrossEncoderReranker.rerank()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2C90D5-C192-47AA-98BF-9D1DD369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观察：vector_results · keyword_results · fused order · reranked order</a:t>
            </a:r>
          </a:p>
        </p:txBody>
      </p:sp>
    </p:spTree>
    <p:extLst>
      <p:ext uri="{BB962C8B-B14F-4D97-AF65-F5344CB8AC3E}">
        <p14:creationId xmlns:p14="http://schemas.microsoft.com/office/powerpoint/2010/main" val="162382023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420E3-3738-4D3D-AD9A-73896C27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/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29496-D07E-4C67-9B05-E4D5EBC6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GraphRAG 与 Research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E7773-F8A3-4C68-BDDF-0F4BABCA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63249-9BF9-449F-9582-17A12669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rag/graph.py; research_graph/; docs/research-graph-context-harness.md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98104-8965-462C-A764-4CC94A9E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A3236-5A4A-48DF-AA4E-4AF8FCB2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INDEX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69030-54F7-428F-A1E1-FAB41DE0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RUN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84717-9723-411A-8416-97264CC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191125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F7B9C-FDD5-4230-A9D5-4B09BC13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59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Knowledge GraphRAG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3879C-F145-46D8-BF3B-56920647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52C66-2F4D-4EAB-AB39-E635A835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6220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rag/graph.py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67217-4D8F-4987-ABA1-D8323938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908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Object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59FA1-F956-43E0-956D-0E15C61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71775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RAGChunk relationship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6C87A-685A-460C-B1C3-0DEE1C36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04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Lifetime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DCC5C-2590-4105-BCC9-02FC0563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8135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knowledge index lifetime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FFE09-8A32-420E-BD33-F2D0F08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99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Purpose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62F9D-76B2-47F1-8B2D-7CE6562D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90925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expand retrieval candidates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99374-0F4B-47B6-9C84-EFF9167D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95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Scope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BE650-5E71-4F7C-9551-B95A41F1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0050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configured knowledge collection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3D9256-ECE0-477B-A5FB-F61DC4C5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Config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41AAB-0430-4FCB-81D2-844B392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10075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rag_graph_enabled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3A434-226C-4356-AB71-80EAE116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5191125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4C85ED-4FD7-4606-B623-D7DBE711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59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Per-run Research Graph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A7B192-7462-470A-AD55-16A76FDC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Source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3FFA86-E7F7-4B82-83C5-03BCD3D8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research_graph/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EE372A-EB96-48A1-9AC0-0A13CCE4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908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Object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3D7B33-7871-4C42-8962-B4DFF549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71775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Evidence / Claim / Finding / WorkingContext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E11E8B-B192-4AC3-8BFA-7E91DFA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Lifetime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7F5698-6A7F-44A3-AB63-78A81F66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8135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research_run_id lifetime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597F6B-F2BA-47CB-82B6-B33742DD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Purpose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70D854-71C7-42E9-A97E-5698AC8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90925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bounded agent context + provenance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5CF50D-F7D0-42D8-97E3-D1262E39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Scope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69A421-82E0-4F0D-8FD5-F2C4F70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 + role + task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F1C8DD-1943-49C1-8110-3EC27DA7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Config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B2550B-8B5B-497E-8009-41F4EEB7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research_graph_enabled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B1B839-7FB5-42F5-A2F3-71C98634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80010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B7A2E5-30C4-4995-8820-092A23D9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959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62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不要因为都有 Graph 就认为是一回事：生命周期、数据对象、调用位置都不同。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EAE7AC-85AA-4451-AF7E-3EC0295C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100FAE-5F00-451B-8045-ECC8FFE3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READ NEXT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CE750C-5103-4F17-9959-8310F78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80072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rag/graph.py → GraphRAGIndex   /   research_graph/workspace.py → ResearchWorkspace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468663-6F7A-4ABC-B0A8-7F18B681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057900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观察：index_id · research_run_id · scope · relevant_subgraph</a:t>
            </a:r>
          </a:p>
        </p:txBody>
      </p:sp>
    </p:spTree>
    <p:extLst>
      <p:ext uri="{BB962C8B-B14F-4D97-AF65-F5344CB8AC3E}">
        <p14:creationId xmlns:p14="http://schemas.microsoft.com/office/powerpoint/2010/main" val="157735166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F290E3-AEB7-485D-AF7A-721EB514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 / PUBLIC OPINION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45DB5-FDCF-4CB6-B3DA-650927BC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舆情研究任务生命周期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1AF54-A116-4DB5-B6A5-025A732C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64792-975B-4492-9A8A-0C8DFB95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deep_researcher.py; four AgentSpecs; report nodes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A4A2D-20D0-4C71-9DA6-E155E43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22A7CE-1B3B-4A6F-9DD4-3DE29CCB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0"/>
            <a:ext cx="14287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51AACB-853F-4F57-8497-43B65808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问题理解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D1E0AC-8A36-4513-8FAE-863769E1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write_research_brief()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11E6F2-5076-49EE-A287-31D2111B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27622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55D153-F7D1-4988-AA21-175193B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05000" y="2724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D3DD85-9F79-4B8A-A38F-D82AF366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95500"/>
            <a:ext cx="14287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58F27C-2CFC-40E2-B920-0D9DE267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公开信号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C7B2BF-A17A-4B0B-8874-CDE9CCD1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public_signal.py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86AB52-768D-49E5-919B-946ACD13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9950" y="27622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33196E-BF27-40F4-8F74-E49099B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00450" y="2724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8BA970-17B9-4EBE-949D-392AA226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95500"/>
            <a:ext cx="14287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4ED8CF-48EC-44B9-92E8-1EBB9D0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内部事实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2308F3-8965-4FF5-B167-F2F0412C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internal_knowledge.py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0E881F-3C7A-49D8-A6D8-3787720B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05400" y="27622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BAB45F-0B1E-4F5C-8912-C54BB7D7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95900" y="2724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970DD6-812F-4A77-8FD4-D59ED44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95500"/>
            <a:ext cx="14287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617856-7060-48EB-9E55-9CE033A2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缺口审查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A5165F-2708-4110-AAE8-429602B8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research_review()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BD1005-E7AE-47AC-A269-BE3C86B9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27622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C288BB-4D45-40E9-A490-E21259CD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91350" y="2724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E3878F-5454-4C49-9848-44C6098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14287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A84F53-55AB-4836-AC2F-26373077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A72F76-5A3B-4006-A41E-4C854CE1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765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risk_assessment.py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911216-013E-4417-B2E0-22857BB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96300" y="27622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2B69E1-AE6D-4B74-9FA1-74EC12B7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86800" y="2724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D45072-5673-4679-A102-6DB2D922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4287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EDAEF3-31F7-419B-AD2C-D5D407E7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907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响应策略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814929-7664-44E9-A337-74A93909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765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response_strategy.py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DB8ACB-8FB1-48DD-AF4F-352F958D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91750" y="27622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054FCA-62B8-4248-8C78-FE6AFCD6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82250" y="2724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EB520B-D253-4D68-8F75-71841F15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95500"/>
            <a:ext cx="14287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A93033-1D57-4605-B2D5-70FE02BA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907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报告生成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227D2F-C7FD-4084-A50B-7AC229F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6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6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section_writer() / compile_final_report()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30F031-1C0C-4C08-94F7-DAC3ABE4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104900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5DA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0BBC2E8-78A3-4EC0-ADB3-3BF0D565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31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角色文件不是独立程序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16E0A44-BB47-4D74-8750-04C017A6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四个模块定义 AgentSpec；deep_researcher.py 的 Graph 决定何时调用角色；runtime/business_agent.py 把 AgentSpec 装配成 AgentRuntime。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BD089B-8BC1-4D23-B4F8-5550A6AE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26F30E-F918-431B-951C-8FF9A06D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3E1F7D-142C-4B42-BA14-899455E0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1972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public_opinion_agents/*.py → AGENT   /   runtime/business_agent.py → run_business_agent()   /   deep_researcher.py → research_phase()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330525E-82EA-4221-81A0-96414797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76900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观察：spec.role · allowed_domains · expected_output · context_strategy</a:t>
            </a:r>
          </a:p>
        </p:txBody>
      </p:sp>
    </p:spTree>
    <p:extLst>
      <p:ext uri="{BB962C8B-B14F-4D97-AF65-F5344CB8AC3E}">
        <p14:creationId xmlns:p14="http://schemas.microsoft.com/office/powerpoint/2010/main" val="119431013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4B5AD-B2A3-4F85-8283-66491C45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 / PUBLIC OPINION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CBF30-7E1D-4625-9A50-B025A299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从规划到报告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54642-7B41-40B4-99E4-500B2B1B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BCA9F-06E1-4E1D-879C-86A6E02B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write_research_brief; plan_report_sections; section_writer; compile_final_report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78464-5B47-43A1-913D-7674A8B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88F10-038D-4A58-A487-05622ACB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953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52048-39DD-4B55-9854-3304F20C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5685C-C28E-45B9-9B10-7693F025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45529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Planning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write_research_brief()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ResearchQuestion.research_brief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plan_report_sections()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Sections[]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optional interrupt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CE217-313C-4154-87D9-8545FEAC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47EB6-CDE0-47AD-AA83-CE01750F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6C8A5-70C6-4300-A108-D3EEAB8D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552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Research + Writing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research_phase()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role reports / graph context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section_writer()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completed_sections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write_final_sections()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compile_final_report()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report.final + AIMessage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2D845-6C11-4EEC-AAE1-DB663CF3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预算不足时 planner 降级为单一 research section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section_writer 并行写需要研究的章节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缺失章节可由 final_report_model 补写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全部缺失时从 role reports 或 graph context fallback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最终报告可追加 token budget 摘要并可选写长期记忆</a:t>
            </a:r>
          </a:p>
        </p:txBody>
      </p:sp>
    </p:spTree>
    <p:extLst>
      <p:ext uri="{BB962C8B-B14F-4D97-AF65-F5344CB8AC3E}">
        <p14:creationId xmlns:p14="http://schemas.microsoft.com/office/powerpoint/2010/main" val="186907517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C8E4E-F149-4753-9110-F18B56B2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08 / 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E0CD3-3E0F-4993-BCEC-6D5A1E6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Token Usage 与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14FE4-D949-436D-B928-8743621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F623C-E7EF-4D6E-8BB6-0F594742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budget.py; observability/langsmith.py; docs/architecture/observability.md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996C7-71DD-4E57-BB62-17D0B1EF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B2519-9205-4527-B7AF-266A7663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6429375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93A31-A97D-49EB-9D5F-51A6805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5257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LANGSMITH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63AE6-B61D-4C32-85E4-86FDC155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Request / public_opinion_research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696E5-A1A2-4F67-B86A-0288C973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47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  └─ write_research_brief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669A0-ECC5-461B-889C-A2782829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431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    └─ 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36E50-A4E9-433E-BF55-92831E79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  └─ research_phase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6E617-8FE3-4294-9A2D-F8A062C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337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    └─ public_signal_agent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E39DD-98E0-41CC-A05C-EA1AB25D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      └─ LLM / Search Tool / RAG spans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80F73-A98D-4377-895F-AEBD06D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    └─ internal_knowledge_agent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D6ECB-EF58-4960-B2C5-40AB8E6B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9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      └─ LLM / rag_search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EB4F1-D008-4C60-AE0C-12084B72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148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  └─ compile_final_report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163FD-037C-4B7E-B484-57321F0B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0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85" b="0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    └─ LLM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DAE43-250C-4366-9022-15CB8DE9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381125"/>
            <a:ext cx="4238625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45B7E-3C50-437B-9FB7-71C4AB8F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525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62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BUDGET / USAGE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5353D-2DF0-459C-9FD8-EA6D0140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55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Trace answers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F2F1D-D3F6-4C23-AF7E-A0F61F6D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哪一步慢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哪个 Agent 调模型最多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哪个 Tool / RAG stage 报错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重试和 latency 在哪里发生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87C95E-2357-4D77-BD7C-10530D2A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718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55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Usage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EB68FE-6270-43C7-9E47-976FE2A5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3619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model_calls / tool_calls / search_calls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input / output / total tokens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cache_read / cache_creation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预算跳过原因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F6ED8-E3BC-49B2-A823-AEC83BA9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81625"/>
            <a:ext cx="59055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F43A60-4E61-45FF-8890-70706EDA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TRACE ≠ TOKEN BUDGET：执行诊断与策略决策故意分离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8F10E5-E148-4D11-8498-9021320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40F629-2A82-4572-987A-2BDF8E38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CODE MAP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6FB377-3BBF-4859-993F-2774A76B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436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observability/langsmith.py → trace_span / metadata helpers   ·   budget.py → ainvoke_model_with_budget() / guards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CB25F2-D3DB-43E0-9FAF-2444AAA6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00775"/>
            <a:ext cx="952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观察：trace tree · usage_metadata · budget_update</a:t>
            </a:r>
          </a:p>
        </p:txBody>
      </p:sp>
    </p:spTree>
    <p:extLst>
      <p:ext uri="{BB962C8B-B14F-4D97-AF65-F5344CB8AC3E}">
        <p14:creationId xmlns:p14="http://schemas.microsoft.com/office/powerpoint/2010/main" val="180658471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B941FC-1D12-4B64-9529-418B9846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09 / ARCHITECTURE 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9046C-0A48-424A-8552-9285F4FB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架构演进时间线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7F2A1-77DD-4812-95D1-BF5D16AE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B41A1-B0E0-44E0-AFA5-A094EF9E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git log origin/main; selected commits in sources.md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0F7E5-B1A0-4825-9FD2-DEE6062B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F1D83-CADA-4ED7-912E-C7178AD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429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651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62932-56FF-468A-B93D-A09A2417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82452-0C1B-4F33-8CA6-EC94825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7750" y="2857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B021C-6A55-4AE0-B4A4-F1A07385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57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A53CB-1ECF-4493-BC19-51850313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431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消息型 Deep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E7C3E-B443-4ABF-8886-6827A5A7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9ede889 / d859138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FD032-BE51-4381-BAF3-425F8FB7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7D6CB-6456-4180-9DF4-E26D5342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35814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97F53-A5EE-4E7F-886A-89AACAAE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2C345-853E-4223-A958-645DDE58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815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723F9-D6B6-42F0-826C-51C01525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24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1b0e639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5E27D-9EC1-4336-B4E5-56FDEF3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FC982-AEA6-42C3-80AC-C5FA5746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2857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3E9BD-1F74-46F4-A025-17F0F591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57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42E24-75DF-4698-B273-23A61414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舆情业务化与收敛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ECCAA-0115-4B87-BA29-CCAF29DD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5c0329b / aff29ea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93E99-B780-41C2-B75F-0F09431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8D8A4-C403-4C5E-89C4-E5B99FC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35814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F4070-0F2F-421F-AA47-5325ADD6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2026-09-01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4357F6-5C32-4C71-BAB5-969B4F5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动态 review /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E7F1C-4092-4674-8382-B74D478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5989480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2D099-8F49-425B-9C4F-C2855F1C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D4B04-7C6B-4BD8-91D1-88C1E2FC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2857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5DBE0-DF0B-4E3A-9966-63244490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57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2026-09-04—14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F0310C-E30B-49CA-B8AB-46C586F7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5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Research Graph / owned state / runtime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B4BB7F-421A-4619-B12B-2E1A13DB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2bdb9ad → 5cc29c0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9B1420-0AB0-4AF2-9082-BF3C3FAE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68A145-08EC-497C-BD83-491CFF42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15625" y="35814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D7AA63-C269-4C56-8587-A3703476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2026-09-20—22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75C37A-9D6E-46F6-A722-4357D7D4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815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LangSmith、去 sidecar、清理 legacy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E802F-82B3-40AC-AEAA-31998522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24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f70d23c → deedb2a</a:t>
            </a:r>
          </a:p>
        </p:txBody>
      </p:sp>
    </p:spTree>
    <p:extLst>
      <p:ext uri="{BB962C8B-B14F-4D97-AF65-F5344CB8AC3E}">
        <p14:creationId xmlns:p14="http://schemas.microsoft.com/office/powerpoint/2010/main" val="21366778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15887-E5A7-43DE-B299-03EF432A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09 / ARCHITECTURE 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DD4D9-4420-49AB-B54B-D0BE72A4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四次关键重构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A2D75-EA1F-4CB3-8E4D-517D857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97BD7-445E-48D3-BE9D-FE096408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aff29ea; 5989480; 3f0a548 + 5cc29c0; d18c87a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5372A-55D4-4E8D-B474-1126F8E3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7BEA7-028F-4007-A0B2-F9639820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旧问题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B65E1-FC5C-42BB-86BC-178794AD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调整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A9276-B76B-4957-8F4E-689C9FAF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收益与代价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1F39E-1830-4F32-B798-C2756588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28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Commit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95A20-F610-4177-A7D7-6830FC3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191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76B78-E809-49FF-92A2-C3900A21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通用模式分叉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601AE-013F-4200-8876-69FBC7FD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舆情主流程收敛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17025-8429-4F56-B35E-737419C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少一套 supervisor/legacy 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01B47-609C-49A7-919B-3DF09370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26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aff29ea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557AD-896B-481E-AF88-6FC0751F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一次研究难补缺口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14BC9-9330-4BF0-A944-9BB1EE9B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Review + 定向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70923-6697-4A60-BCAD-0C939769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质量提高，但 follow-up 成本上升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BD519-851C-4CAE-AC85-D3F4833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5989480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09C71-81ED-4367-B38B-750F7B14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191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2FEA4-BF3D-4CB4-AF2A-4850E5BF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State 与角色运行重复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19545-1B7C-4077-AD66-15A6DB0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528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五域 State + 共享 AgentRuntime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59CE8-54A6-4A1F-B0B1-7D189463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并行合并与职责更清晰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C2A022-3067-4478-B5EA-FDCF5ED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52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3f0a548 / 5cc29c0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09A71-9038-4FE0-9EBF-D3EF3CA1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Observer sidecar 与 LangSmith 重叠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73DDC-E7AD-40DE-A1A5-5F606DDA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LangSmith + budget.py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C10F8-4426-4BCE-A60D-4294D58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更少重复埋点，责任边界清楚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AE224-3E17-4DAB-AF4C-B1F5EFB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d18c87a</a:t>
            </a:r>
          </a:p>
        </p:txBody>
      </p:sp>
    </p:spTree>
    <p:extLst>
      <p:ext uri="{BB962C8B-B14F-4D97-AF65-F5344CB8AC3E}">
        <p14:creationId xmlns:p14="http://schemas.microsoft.com/office/powerpoint/2010/main" val="137429210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D50C8-F975-4242-AFAA-62457EAB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 / CONTINUE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25C9C-DDEE-42DE-95C6-F1586D3C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源码学习地图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C0F67-7829-42F1-A065-C3B255F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9C06B-9F74-4C56-AB48-6B2BBA74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current file map and verified call chains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010EA-0933-428E-8B81-F8A682E1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A1C4AB-4C1F-4766-9A86-A8B1941E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学习任务 / 阅读路线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842519-974C-47A6-BBD9-BBE15135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推荐断点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8C63B6-63B3-4140-BDBB-A56E8385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811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观察变量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8F0897-9E90-4016-BC71-07D1D661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11191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D2D355-AADA-43BE-A946-5D02FCE8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30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 一次请求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8F34AC-676A-46D7-B428-54FC82DA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430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web/server.py → deep_researcher.py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6F41DE-C462-42EA-B111-CBB9BA84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4307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0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research() · research_phase() · compile_final_report()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2199F9-9D8F-44BA-864D-8F3F1984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430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initial_state · config · report.final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5F3C07-2D01-49DB-B880-811C05BA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2955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BB5BEE-BE1A-47A4-901B-09E6484E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  Multi-Agent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44C2D4-17CB-408A-9008-E74BD1AF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71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public_opinion_agents/ → business_agent.py → agent_runtime.py → state.py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F42152-11E4-4AD1-B197-E2DC3724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0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run_business_agent() · AgentRuntime.run() · route_after_research_review()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0A6D39-04E1-4AF5-854D-A7E9D2B6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AgentSpec · messages · tool_calls · AgentRuntimeResult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85AD7B-F1E9-437A-B3F5-3AECD475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1242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E0EB78-7AEE-4FA9-A7E0-C748CFC7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24225"/>
            <a:ext cx="11191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7B880E-64DA-4A4B-B01C-51A7F3AA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03  MCP / Tool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22A135-3AF6-4156-822C-AE9C0791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004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utils.py → mcp/tools.py → tool_wrapper.py → domain_filter.py → business_agent.py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485BA1-8F7F-49BB-8AA9-2F949AB2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0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get_all_tools() · load_mcp_tools() · _business_agent_tools()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4B837B-86BD-4E77-B32A-FB4E7EFB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servers · tools · filtered_tools · allowed_domains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6348A6-CCA9-4C18-988D-85F80E0D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9528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2EEADD-8CBA-4AD6-BB8C-7ABF054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29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04  Context / Memory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820A88-28FD-4B10-8420-FA21DAE9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291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state.py → agent_runtime.py → research_graph/workspace.py → memory/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5149D6-09B3-4D72-9846-3F8DCAD6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291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0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_compact_history() · before_model() · persist_conversation_memory()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4C883D-5F81-4E8D-AC22-D768A821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 domains · model_messages · rolling_summary · records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870393-BF22-445B-990C-4891DA4D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781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C1CDB0-3A8F-4029-9E50-C1E0D79A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11191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054A1F-6360-4EF5-BD66-D53CB4E7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577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 RAG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966302-152B-4755-8B2A-416C5F56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577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4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tools/rag_tool.py → rag/service.py → retriever.py → reranker.py → graph.py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09A112-C808-4C2D-A446-6F292C23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5777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0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rag_search() · RAGPipeline.query() · retrieve() · rerank()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F77D8B-4F9E-4DA3-90F0-BDD1F5F7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577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0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0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query_vector · vector_results · keyword_results · selected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7B2DA4-D58B-48E1-AF6B-75B30B3A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6102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7163E8-E2A0-4E5B-AB19-CB704286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246FFE-BC4C-4109-82BA-41C79709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完整知识点索引：docs/project-learning/source-learning-index.md</a:t>
            </a:r>
          </a:p>
        </p:txBody>
      </p:sp>
    </p:spTree>
    <p:extLst>
      <p:ext uri="{BB962C8B-B14F-4D97-AF65-F5344CB8AC3E}">
        <p14:creationId xmlns:p14="http://schemas.microsoft.com/office/powerpoint/2010/main" val="100827882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CE49A-BEE5-4584-A8A0-4CA1A441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10 / CONTINUE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98098-751E-4FF1-B7C7-54231D0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727D0-471F-4C0C-9F2B-EEC8ABBC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B2B20-5F58-4725-9D3F-B3CD7F8E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Complete deck; docs/project-learning/sources.md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7DFF8-4DDC-4418-84FB-65019798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75973-8FC9-47E9-B1D1-97A966B1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3CF23-847A-4881-B4BB-00D6D04F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CC52F-85F7-4CA6-BF39-951E6DE4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FB100-7079-46B1-A1E0-B410D08C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我能从入口一路跟到最终 report.final，并说出每个 State patch 的来源吗？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2C658-C596-4BFF-849A-FC3EFEA9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EFDB8-1562-40E0-92A3-ED33EF1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DD5B5-63AC-4046-BCDE-FDEEA2E1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我能解释四个 Agent 独立了什么、共享了什么、谁决定下一步吗？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067D3-28E2-452E-8D0C-A7A02797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AC949-CF30-44B7-A9A2-55DE9AB5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F0B79-9AC9-4324-B96F-1F538958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我能区分 Tool、MCP、Skill、Agent、Graph 的责任边界吗？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C24CB-D885-430F-8715-715373D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204FE-8BEB-4C51-9F31-6595BDA7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628F5-81C0-41E2-B70E-AD77A0BE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我能区分 GraphRAG、Research Graph、Agent Memory 与 MySQL Memory 吗？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28DC0-6773-49FA-BE86-B9CC4343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9B27D-CED8-4E53-AC20-FF9DF5F0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FD807-A9A6-40F0-9046-EC7E4E36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我能从 Git 提交说明一次架构调整的动机、收益和代价吗？</a:t>
            </a:r>
          </a:p>
        </p:txBody>
      </p:sp>
    </p:spTree>
    <p:extLst>
      <p:ext uri="{BB962C8B-B14F-4D97-AF65-F5344CB8AC3E}">
        <p14:creationId xmlns:p14="http://schemas.microsoft.com/office/powerpoint/2010/main" val="1778031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2026-09-22T13:25:41.1960000Z</dcterms:created>
  <dcterms:modified xsi:type="dcterms:W3CDTF">2026-09-22T13:25:41.1970000Z</dcterms:modified>
</coreProperties>
</file>